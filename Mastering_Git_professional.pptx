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444" y="-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339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10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3" Type="http://schemas.openxmlformats.org/officeDocument/2006/relationships/image" Target="../media/image92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4.pn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19" Type="http://schemas.openxmlformats.org/officeDocument/2006/relationships/image" Target="../media/image107.png"/><Relationship Id="rId4" Type="http://schemas.openxmlformats.org/officeDocument/2006/relationships/image" Target="../media/image10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2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3" Type="http://schemas.openxmlformats.org/officeDocument/2006/relationships/image" Target="../media/image2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4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5" Type="http://schemas.openxmlformats.org/officeDocument/2006/relationships/image" Target="../media/image136.png"/><Relationship Id="rId10" Type="http://schemas.openxmlformats.org/officeDocument/2006/relationships/image" Target="../media/image131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18" Type="http://schemas.openxmlformats.org/officeDocument/2006/relationships/image" Target="../media/image152.png"/><Relationship Id="rId26" Type="http://schemas.openxmlformats.org/officeDocument/2006/relationships/image" Target="../media/image160.png"/><Relationship Id="rId3" Type="http://schemas.openxmlformats.org/officeDocument/2006/relationships/image" Target="../media/image124.png"/><Relationship Id="rId21" Type="http://schemas.openxmlformats.org/officeDocument/2006/relationships/image" Target="../media/image155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5" Type="http://schemas.openxmlformats.org/officeDocument/2006/relationships/image" Target="../media/image15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0.png"/><Relationship Id="rId20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24" Type="http://schemas.openxmlformats.org/officeDocument/2006/relationships/image" Target="../media/image158.png"/><Relationship Id="rId5" Type="http://schemas.openxmlformats.org/officeDocument/2006/relationships/image" Target="../media/image139.png"/><Relationship Id="rId15" Type="http://schemas.openxmlformats.org/officeDocument/2006/relationships/image" Target="../media/image149.png"/><Relationship Id="rId23" Type="http://schemas.openxmlformats.org/officeDocument/2006/relationships/image" Target="../media/image157.png"/><Relationship Id="rId10" Type="http://schemas.openxmlformats.org/officeDocument/2006/relationships/image" Target="../media/image144.png"/><Relationship Id="rId19" Type="http://schemas.openxmlformats.org/officeDocument/2006/relationships/image" Target="../media/image153.png"/><Relationship Id="rId4" Type="http://schemas.openxmlformats.org/officeDocument/2006/relationships/image" Target="../media/image125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Relationship Id="rId22" Type="http://schemas.openxmlformats.org/officeDocument/2006/relationships/image" Target="../media/image1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3" Type="http://schemas.openxmlformats.org/officeDocument/2006/relationships/image" Target="../media/image2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79.png"/><Relationship Id="rId10" Type="http://schemas.openxmlformats.org/officeDocument/2006/relationships/image" Target="../media/image166.png"/><Relationship Id="rId4" Type="http://schemas.openxmlformats.org/officeDocument/2006/relationships/image" Target="../media/image161.png"/><Relationship Id="rId9" Type="http://schemas.openxmlformats.org/officeDocument/2006/relationships/image" Target="../media/image1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0.png"/><Relationship Id="rId18" Type="http://schemas.openxmlformats.org/officeDocument/2006/relationships/image" Target="../media/image185.png"/><Relationship Id="rId3" Type="http://schemas.openxmlformats.org/officeDocument/2006/relationships/image" Target="../media/image170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17" Type="http://schemas.openxmlformats.org/officeDocument/2006/relationships/image" Target="../media/image18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5" Type="http://schemas.openxmlformats.org/officeDocument/2006/relationships/image" Target="../media/image172.png"/><Relationship Id="rId15" Type="http://schemas.openxmlformats.org/officeDocument/2006/relationships/image" Target="../media/image182.png"/><Relationship Id="rId10" Type="http://schemas.openxmlformats.org/officeDocument/2006/relationships/image" Target="../media/image177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Relationship Id="rId14" Type="http://schemas.openxmlformats.org/officeDocument/2006/relationships/image" Target="../media/image1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86.png"/><Relationship Id="rId7" Type="http://schemas.openxmlformats.org/officeDocument/2006/relationships/image" Target="../media/image18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11" Type="http://schemas.openxmlformats.org/officeDocument/2006/relationships/image" Target="../media/image193.png"/><Relationship Id="rId5" Type="http://schemas.openxmlformats.org/officeDocument/2006/relationships/image" Target="../media/image187.png"/><Relationship Id="rId10" Type="http://schemas.openxmlformats.org/officeDocument/2006/relationships/image" Target="../media/image192.png"/><Relationship Id="rId4" Type="http://schemas.openxmlformats.org/officeDocument/2006/relationships/image" Target="../media/image78.png"/><Relationship Id="rId9" Type="http://schemas.openxmlformats.org/officeDocument/2006/relationships/image" Target="../media/image1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image" Target="../media/image203.png"/><Relationship Id="rId3" Type="http://schemas.openxmlformats.org/officeDocument/2006/relationships/image" Target="../media/image194.png"/><Relationship Id="rId7" Type="http://schemas.openxmlformats.org/officeDocument/2006/relationships/image" Target="../media/image197.png"/><Relationship Id="rId12" Type="http://schemas.openxmlformats.org/officeDocument/2006/relationships/image" Target="../media/image202.png"/><Relationship Id="rId17" Type="http://schemas.openxmlformats.org/officeDocument/2006/relationships/image" Target="../media/image207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5" Type="http://schemas.openxmlformats.org/officeDocument/2006/relationships/image" Target="../media/image195.png"/><Relationship Id="rId15" Type="http://schemas.openxmlformats.org/officeDocument/2006/relationships/image" Target="../media/image205.png"/><Relationship Id="rId10" Type="http://schemas.openxmlformats.org/officeDocument/2006/relationships/image" Target="../media/image200.png"/><Relationship Id="rId4" Type="http://schemas.openxmlformats.org/officeDocument/2006/relationships/image" Target="../media/image114.png"/><Relationship Id="rId9" Type="http://schemas.openxmlformats.org/officeDocument/2006/relationships/image" Target="../media/image199.png"/><Relationship Id="rId14" Type="http://schemas.openxmlformats.org/officeDocument/2006/relationships/image" Target="../media/image20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217.png"/><Relationship Id="rId3" Type="http://schemas.openxmlformats.org/officeDocument/2006/relationships/image" Target="../media/image124.png"/><Relationship Id="rId7" Type="http://schemas.openxmlformats.org/officeDocument/2006/relationships/image" Target="../media/image211.png"/><Relationship Id="rId12" Type="http://schemas.openxmlformats.org/officeDocument/2006/relationships/image" Target="../media/image2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11" Type="http://schemas.openxmlformats.org/officeDocument/2006/relationships/image" Target="../media/image215.png"/><Relationship Id="rId5" Type="http://schemas.openxmlformats.org/officeDocument/2006/relationships/image" Target="../media/image209.png"/><Relationship Id="rId10" Type="http://schemas.openxmlformats.org/officeDocument/2006/relationships/image" Target="../media/image214.png"/><Relationship Id="rId4" Type="http://schemas.openxmlformats.org/officeDocument/2006/relationships/image" Target="../media/image208.png"/><Relationship Id="rId9" Type="http://schemas.openxmlformats.org/officeDocument/2006/relationships/image" Target="../media/image213.png"/><Relationship Id="rId14" Type="http://schemas.openxmlformats.org/officeDocument/2006/relationships/image" Target="../media/image2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228.png"/><Relationship Id="rId3" Type="http://schemas.openxmlformats.org/officeDocument/2006/relationships/image" Target="../media/image219.png"/><Relationship Id="rId7" Type="http://schemas.openxmlformats.org/officeDocument/2006/relationships/image" Target="../media/image222.png"/><Relationship Id="rId12" Type="http://schemas.openxmlformats.org/officeDocument/2006/relationships/image" Target="../media/image227.png"/><Relationship Id="rId17" Type="http://schemas.openxmlformats.org/officeDocument/2006/relationships/image" Target="../media/image232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1.png"/><Relationship Id="rId11" Type="http://schemas.openxmlformats.org/officeDocument/2006/relationships/image" Target="../media/image226.png"/><Relationship Id="rId5" Type="http://schemas.openxmlformats.org/officeDocument/2006/relationships/image" Target="../media/image220.png"/><Relationship Id="rId15" Type="http://schemas.openxmlformats.org/officeDocument/2006/relationships/image" Target="../media/image230.png"/><Relationship Id="rId10" Type="http://schemas.openxmlformats.org/officeDocument/2006/relationships/image" Target="../media/image225.png"/><Relationship Id="rId4" Type="http://schemas.openxmlformats.org/officeDocument/2006/relationships/image" Target="../media/image78.png"/><Relationship Id="rId9" Type="http://schemas.openxmlformats.org/officeDocument/2006/relationships/image" Target="../media/image224.png"/><Relationship Id="rId14" Type="http://schemas.openxmlformats.org/officeDocument/2006/relationships/image" Target="../media/image2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13" Type="http://schemas.openxmlformats.org/officeDocument/2006/relationships/image" Target="../media/image241.png"/><Relationship Id="rId3" Type="http://schemas.openxmlformats.org/officeDocument/2006/relationships/image" Target="../media/image9.png"/><Relationship Id="rId7" Type="http://schemas.openxmlformats.org/officeDocument/2006/relationships/image" Target="../media/image235.png"/><Relationship Id="rId12" Type="http://schemas.openxmlformats.org/officeDocument/2006/relationships/image" Target="../media/image2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4.png"/><Relationship Id="rId11" Type="http://schemas.openxmlformats.org/officeDocument/2006/relationships/image" Target="../media/image239.png"/><Relationship Id="rId5" Type="http://schemas.openxmlformats.org/officeDocument/2006/relationships/image" Target="../media/image233.png"/><Relationship Id="rId10" Type="http://schemas.openxmlformats.org/officeDocument/2006/relationships/image" Target="../media/image238.png"/><Relationship Id="rId4" Type="http://schemas.openxmlformats.org/officeDocument/2006/relationships/image" Target="../media/image219.png"/><Relationship Id="rId9" Type="http://schemas.openxmlformats.org/officeDocument/2006/relationships/image" Target="../media/image2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-952805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15000"/>
          </a:blip>
          <a:srcRect/>
          <a:stretch/>
        </p:blipFill>
        <p:spPr>
          <a:xfrm>
            <a:off x="7429500" y="2095805"/>
            <a:ext cx="5715000" cy="5715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3238805" y="1154887"/>
            <a:ext cx="5715000" cy="1324051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3247949" y="1164031"/>
            <a:ext cx="5695798" cy="314554"/>
          </a:xfrm>
          <a:prstGeom prst="roundRect">
            <a:avLst>
              <a:gd name="adj" fmla="val 21141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/>
          <p:cNvSpPr/>
          <p:nvPr/>
        </p:nvSpPr>
        <p:spPr>
          <a:xfrm>
            <a:off x="3247949" y="1469441"/>
            <a:ext cx="5695798" cy="9144"/>
          </a:xfrm>
          <a:prstGeom prst="roundRect">
            <a:avLst>
              <a:gd name="adj" fmla="val 7272727"/>
            </a:avLst>
          </a:prstGeom>
          <a:solidFill>
            <a:srgbClr val="30363D"/>
          </a:solidFill>
          <a:ln w="12700">
            <a:solidFill>
              <a:srgbClr val="303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3400654" y="1259129"/>
            <a:ext cx="114300" cy="11430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3590849" y="1259129"/>
            <a:ext cx="114300" cy="11430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3781044" y="1259129"/>
            <a:ext cx="114300" cy="11430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3476549" y="1707185"/>
            <a:ext cx="53154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user@dev</a:t>
            </a: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5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~/projects</a:t>
            </a: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</a:t>
            </a:r>
            <a:r>
              <a:rPr lang="en-US" sz="15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presentation-master</a:t>
            </a: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2846527" y="3049524"/>
            <a:ext cx="7332574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-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Mastering </a:t>
            </a:r>
            <a:r>
              <a:rPr lang="en-US" sz="7200" b="1" kern="0" spc="-150" dirty="0">
                <a:solidFill>
                  <a:srgbClr val="00B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</a:t>
            </a:r>
            <a:endParaRPr lang="en-US" sz="7200" dirty="0"/>
          </a:p>
        </p:txBody>
      </p:sp>
      <p:sp>
        <p:nvSpPr>
          <p:cNvPr id="15" name="Text 9"/>
          <p:cNvSpPr txBox="1"/>
          <p:nvPr/>
        </p:nvSpPr>
        <p:spPr>
          <a:xfrm>
            <a:off x="2402129" y="4283964"/>
            <a:ext cx="73920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 Guide for Modern Development Teams</a:t>
            </a:r>
            <a:endParaRPr lang="en-US" sz="2100" dirty="0"/>
          </a:p>
        </p:txBody>
      </p:sp>
      <p:sp>
        <p:nvSpPr>
          <p:cNvPr id="16" name="Shape 10"/>
          <p:cNvSpPr/>
          <p:nvPr/>
        </p:nvSpPr>
        <p:spPr>
          <a:xfrm>
            <a:off x="2757830" y="5294376"/>
            <a:ext cx="2619756" cy="409651"/>
          </a:xfrm>
          <a:prstGeom prst="roundRect">
            <a:avLst>
              <a:gd name="adj" fmla="val 223214"/>
            </a:avLst>
          </a:prstGeom>
          <a:solidFill>
            <a:srgbClr val="0D1B2A">
              <a:alpha val="80000"/>
            </a:srgbClr>
          </a:solidFill>
          <a:ln w="12700">
            <a:solidFill>
              <a:srgbClr val="00B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2996489" y="5432450"/>
            <a:ext cx="171907" cy="1335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225089" y="5294376"/>
            <a:ext cx="195224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Version Control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528462" y="5294376"/>
            <a:ext cx="1676095" cy="409651"/>
          </a:xfrm>
          <a:prstGeom prst="roundRect">
            <a:avLst>
              <a:gd name="adj" fmla="val 223214"/>
            </a:avLst>
          </a:prstGeom>
          <a:solidFill>
            <a:srgbClr val="0D1B2A">
              <a:alpha val="80000"/>
            </a:srgbClr>
          </a:solidFill>
          <a:ln w="12700">
            <a:solidFill>
              <a:srgbClr val="00B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5766206" y="5432450"/>
            <a:ext cx="171907" cy="13350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004865" y="5294376"/>
            <a:ext cx="9912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7349033" y="5294376"/>
            <a:ext cx="2085746" cy="409651"/>
          </a:xfrm>
          <a:prstGeom prst="roundRect">
            <a:avLst>
              <a:gd name="adj" fmla="val 223214"/>
            </a:avLst>
          </a:prstGeom>
          <a:solidFill>
            <a:srgbClr val="0D1B2A">
              <a:alpha val="80000"/>
            </a:srgbClr>
          </a:solidFill>
          <a:ln w="12700">
            <a:solidFill>
              <a:srgbClr val="00B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7586777" y="5432450"/>
            <a:ext cx="105156" cy="13350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758684" y="5294376"/>
            <a:ext cx="14676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Workflow</a:t>
            </a:r>
            <a:endParaRPr lang="en-US" sz="10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rcRect t="-19" b="-19"/>
          <a:stretch/>
        </p:blipFill>
        <p:spPr>
          <a:xfrm>
            <a:off x="2745029" y="3286354"/>
            <a:ext cx="599846" cy="68580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304495" y="6458407"/>
            <a:ext cx="20016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 // INTERNAL USE</a:t>
            </a:r>
            <a:endParaRPr lang="en-US" sz="900" dirty="0"/>
          </a:p>
        </p:txBody>
      </p:sp>
      <p:sp>
        <p:nvSpPr>
          <p:cNvPr id="27" name="Text 17"/>
          <p:cNvSpPr txBox="1"/>
          <p:nvPr/>
        </p:nvSpPr>
        <p:spPr>
          <a:xfrm>
            <a:off x="11612880" y="6458407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7429500" y="-952805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3047695"/>
            <a:ext cx="4762195" cy="47621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581558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286207"/>
            <a:ext cx="28035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Mastering Git - Complete Guide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1155680" y="286207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20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972007"/>
            <a:ext cx="387614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</a:t>
            </a:r>
            <a:r>
              <a:rPr lang="en-US" sz="3600" b="1" dirty="0">
                <a:solidFill>
                  <a:srgbClr val="00B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</a:t>
            </a: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3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476402" y="1779422"/>
            <a:ext cx="3596335" cy="90251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05002" y="1969618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05002" y="2274113"/>
            <a:ext cx="3395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Version Control System (DVCS)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76402" y="3005633"/>
            <a:ext cx="3600907" cy="1781251"/>
          </a:xfrm>
          <a:prstGeom prst="roundRect">
            <a:avLst>
              <a:gd name="adj" fmla="val 6588"/>
            </a:avLst>
          </a:prstGeom>
          <a:solidFill>
            <a:srgbClr val="16243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714146" y="3243377"/>
            <a:ext cx="200254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28700" y="3243377"/>
            <a:ext cx="14511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Origin Story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714146" y="3586277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Created in </a:t>
            </a: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2005</a:t>
            </a: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</a:t>
            </a: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Linus Torvalds</a:t>
            </a: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Linux kernel development. 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714146" y="4172407"/>
            <a:ext cx="32004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centralized systems, Git gives every developer a full copy of the project history.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76402" y="5581498"/>
            <a:ext cx="3600907" cy="895198"/>
          </a:xfrm>
          <a:prstGeom prst="roundRect">
            <a:avLst>
              <a:gd name="adj" fmla="val 26080"/>
            </a:avLst>
          </a:prstGeom>
          <a:solidFill>
            <a:srgbClr val="39FF14">
              <a:alpha val="5000"/>
            </a:srgbClr>
          </a:solidFill>
          <a:ln w="12700">
            <a:solidFill>
              <a:srgbClr val="39FF1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676656" y="5796382"/>
            <a:ext cx="151607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r>
              <a:rPr lang="en-US" sz="18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3600" dirty="0"/>
          </a:p>
        </p:txBody>
      </p:sp>
      <p:sp>
        <p:nvSpPr>
          <p:cNvPr id="20" name="Text 14"/>
          <p:cNvSpPr txBox="1"/>
          <p:nvPr/>
        </p:nvSpPr>
        <p:spPr>
          <a:xfrm>
            <a:off x="2091233" y="5781751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Share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2091233" y="5971946"/>
            <a:ext cx="185257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widely used VCS worldwide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745590" y="5967374"/>
            <a:ext cx="2386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549140" y="1703527"/>
            <a:ext cx="2266798" cy="2018995"/>
          </a:xfrm>
          <a:prstGeom prst="roundRect">
            <a:avLst>
              <a:gd name="adj" fmla="val 512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86884" y="1942186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00B4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96612" y="2075688"/>
            <a:ext cx="237744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786884" y="2551176"/>
            <a:ext cx="18672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786884" y="2932481"/>
            <a:ext cx="186263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point of failure. Everyone has a full backup of the repo.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7001561" y="1703527"/>
            <a:ext cx="2266798" cy="2018995"/>
          </a:xfrm>
          <a:prstGeom prst="roundRect">
            <a:avLst>
              <a:gd name="adj" fmla="val 512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7239305" y="1942186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00E5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7382866" y="2075688"/>
            <a:ext cx="171907" cy="1901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39305" y="2551176"/>
            <a:ext cx="18672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Blazing Fast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7239305" y="2932481"/>
            <a:ext cx="186263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operations like branching and merging are nearly instant.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9453982" y="1703527"/>
            <a:ext cx="2266798" cy="2018995"/>
          </a:xfrm>
          <a:prstGeom prst="roundRect">
            <a:avLst>
              <a:gd name="adj" fmla="val 512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9691726" y="1942186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39FF1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01454" y="2075688"/>
            <a:ext cx="237744" cy="19019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691726" y="2551176"/>
            <a:ext cx="18672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Offline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9691726" y="2932481"/>
            <a:ext cx="186263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Commit, branch, and view history anywhere without internet.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4549140" y="3910889"/>
            <a:ext cx="3495751" cy="1837944"/>
          </a:xfrm>
          <a:prstGeom prst="roundRect">
            <a:avLst>
              <a:gd name="adj" fmla="val 618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4786884" y="4149547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A855F7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l="-1282" r="-1282"/>
          <a:stretch/>
        </p:blipFill>
        <p:spPr>
          <a:xfrm>
            <a:off x="4906670" y="4283050"/>
            <a:ext cx="219456" cy="19019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786884" y="4758538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History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4786884" y="5139842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project timeline stored locally on your machine, enabling deep historical analysis.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8227771" y="3910889"/>
            <a:ext cx="3495751" cy="1837944"/>
          </a:xfrm>
          <a:prstGeom prst="roundRect">
            <a:avLst>
              <a:gd name="adj" fmla="val 618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4"/>
          <p:cNvSpPr/>
          <p:nvPr/>
        </p:nvSpPr>
        <p:spPr>
          <a:xfrm>
            <a:off x="8465515" y="4149547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9731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575243" y="4283050"/>
            <a:ext cx="237744" cy="190195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465515" y="4758538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Collaborative</a:t>
            </a:r>
            <a:endParaRPr lang="en-US" sz="1300" dirty="0"/>
          </a:p>
        </p:txBody>
      </p:sp>
      <p:sp>
        <p:nvSpPr>
          <p:cNvPr id="47" name="Text 36"/>
          <p:cNvSpPr txBox="1"/>
          <p:nvPr/>
        </p:nvSpPr>
        <p:spPr>
          <a:xfrm>
            <a:off x="8465515" y="5139842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large teams to work in parallel safely with advanced merge capabilities.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981151"/>
            <a:ext cx="4022446" cy="176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Git Became </a:t>
            </a:r>
            <a:r>
              <a:rPr lang="en-US" sz="4200" b="1" kern="0" spc="-75" dirty="0">
                <a:solidFill>
                  <a:srgbClr val="00B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Popular</a:t>
            </a:r>
            <a:endParaRPr lang="en-US" sz="4200" dirty="0"/>
          </a:p>
        </p:txBody>
      </p:sp>
      <p:sp>
        <p:nvSpPr>
          <p:cNvPr id="8" name="Text 3"/>
          <p:cNvSpPr txBox="1"/>
          <p:nvPr/>
        </p:nvSpPr>
        <p:spPr>
          <a:xfrm>
            <a:off x="571500" y="2741371"/>
            <a:ext cx="45537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Revolutionizing Software Delivery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571500" y="3388766"/>
            <a:ext cx="38405" cy="1104595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800100" y="3388766"/>
            <a:ext cx="3715207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solved the critical bottlenecks of centralized systems, transforming how teams collaborate and becoming the universal standard for modern development.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571500" y="5562295"/>
            <a:ext cx="3866998" cy="9144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52398" y="5772607"/>
            <a:ext cx="1638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 VCS Tool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1352398" y="6067044"/>
            <a:ext cx="185897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Developer Survey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4819802" y="476402"/>
            <a:ext cx="6801307" cy="1076249"/>
          </a:xfrm>
          <a:prstGeom prst="roundRect">
            <a:avLst>
              <a:gd name="adj" fmla="val 1804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 txBox="1"/>
          <p:nvPr/>
        </p:nvSpPr>
        <p:spPr>
          <a:xfrm>
            <a:off x="5560466" y="638251"/>
            <a:ext cx="59436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560466" y="961949"/>
            <a:ext cx="5906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operations like commits, diffs, and log viewing happen instantly without network latency.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819802" y="1702613"/>
            <a:ext cx="6801307" cy="1076249"/>
          </a:xfrm>
          <a:prstGeom prst="roundRect">
            <a:avLst>
              <a:gd name="adj" fmla="val 1804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5560466" y="1864462"/>
            <a:ext cx="59436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Architecture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560466" y="2189074"/>
            <a:ext cx="5906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developer has a full copy of the repository history on their machine, ensuring redundancy.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819802" y="2929738"/>
            <a:ext cx="6801307" cy="1076249"/>
          </a:xfrm>
          <a:prstGeom prst="roundRect">
            <a:avLst>
              <a:gd name="adj" fmla="val 1804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5560466" y="3091586"/>
            <a:ext cx="59436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60466" y="3415284"/>
            <a:ext cx="5906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Cheap branching and Pull Requests (PRs) make parallel development and code review seamless.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819802" y="4156862"/>
            <a:ext cx="6801307" cy="1076249"/>
          </a:xfrm>
          <a:prstGeom prst="roundRect">
            <a:avLst>
              <a:gd name="adj" fmla="val 1804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5560466" y="4318711"/>
            <a:ext cx="59436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Resilience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560466" y="4642409"/>
            <a:ext cx="5906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point of failure. Any client's repository copy can be used to restore a dead server.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19802" y="5383987"/>
            <a:ext cx="6801307" cy="1076249"/>
          </a:xfrm>
          <a:prstGeom prst="roundRect">
            <a:avLst>
              <a:gd name="adj" fmla="val 1804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5560466" y="5545836"/>
            <a:ext cx="59436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Standard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560466" y="5869534"/>
            <a:ext cx="5906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default choice for open source and enterprise, powering everything from Linux to Azure DevOps.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71500" y="457200"/>
            <a:ext cx="809244" cy="333756"/>
          </a:xfrm>
          <a:prstGeom prst="roundRect">
            <a:avLst>
              <a:gd name="adj" fmla="val 62622"/>
            </a:avLst>
          </a:prstGeom>
          <a:solidFill>
            <a:srgbClr val="00B4FF">
              <a:alpha val="10000"/>
            </a:srgbClr>
          </a:solidFill>
          <a:ln w="12700">
            <a:solidFill>
              <a:srgbClr val="00B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571500" y="457200"/>
            <a:ext cx="8668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20</a:t>
            </a:r>
            <a:endParaRPr lang="en-US" sz="10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607" r="-607"/>
          <a:stretch/>
        </p:blipFill>
        <p:spPr>
          <a:xfrm>
            <a:off x="771754" y="5843930"/>
            <a:ext cx="390449" cy="3429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981651" y="638251"/>
            <a:ext cx="3529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4981651" y="1864462"/>
            <a:ext cx="3529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4981651" y="3091586"/>
            <a:ext cx="3529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4981651" y="4318711"/>
            <a:ext cx="3529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4981651" y="5545836"/>
            <a:ext cx="3529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37" name="Text 30"/>
          <p:cNvSpPr txBox="1"/>
          <p:nvPr/>
        </p:nvSpPr>
        <p:spPr>
          <a:xfrm>
            <a:off x="571500" y="6458407"/>
            <a:ext cx="221924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Mastering Git: A Complete Guide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11345875" y="6458407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-952805" y="-1904695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8382305" y="3047695"/>
            <a:ext cx="4762195" cy="47621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5051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381305"/>
            <a:ext cx="57442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vs GitHub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057046"/>
            <a:ext cx="57067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Clearing the Confusion — The Engine vs. The Platform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827410" y="990295"/>
            <a:ext cx="895198" cy="323698"/>
          </a:xfrm>
          <a:prstGeom prst="roundRect">
            <a:avLst>
              <a:gd name="adj" fmla="val 664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827410" y="990295"/>
            <a:ext cx="9528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20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76402" y="1895551"/>
            <a:ext cx="5429707" cy="45811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90956" y="3039466"/>
            <a:ext cx="48006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790956" y="2223821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F05032">
              <a:alpha val="15000"/>
            </a:srgbClr>
          </a:solidFill>
          <a:ln w="12700">
            <a:solidFill>
              <a:srgbClr val="F05032">
                <a:alpha val="3000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961949" y="2376526"/>
            <a:ext cx="267005" cy="3044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91056" y="2210105"/>
            <a:ext cx="7909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</a:t>
            </a:r>
            <a:endParaRPr lang="en-US" sz="2100" dirty="0"/>
          </a:p>
        </p:txBody>
      </p:sp>
      <p:sp>
        <p:nvSpPr>
          <p:cNvPr id="16" name="Text 10"/>
          <p:cNvSpPr txBox="1"/>
          <p:nvPr/>
        </p:nvSpPr>
        <p:spPr>
          <a:xfrm>
            <a:off x="1591056" y="2648102"/>
            <a:ext cx="8293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Engine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790956" y="3314700"/>
            <a:ext cx="171907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14654" y="3276295"/>
            <a:ext cx="255117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command-line utility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790956" y="3762756"/>
            <a:ext cx="190195" cy="152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33856" y="3724351"/>
            <a:ext cx="191749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100% </a:t>
            </a:r>
            <a:r>
              <a:rPr lang="en-US" sz="13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</a:t>
            </a:r>
            <a:endParaRPr lang="en-US" sz="13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790956" y="4209898"/>
            <a:ext cx="133502" cy="15270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6249" y="4172407"/>
            <a:ext cx="41019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history &amp; manages branches locally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790956" y="5639105"/>
            <a:ext cx="4800600" cy="523951"/>
          </a:xfrm>
          <a:prstGeom prst="roundRect">
            <a:avLst>
              <a:gd name="adj" fmla="val 5076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5"/>
          <p:cNvSpPr txBox="1"/>
          <p:nvPr/>
        </p:nvSpPr>
        <p:spPr>
          <a:xfrm>
            <a:off x="790956" y="5639105"/>
            <a:ext cx="4877410" cy="5239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"Local snapshot"</a:t>
            </a:r>
            <a:endParaRPr lang="en-US" sz="10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6286500" y="1895551"/>
            <a:ext cx="5429707" cy="4581144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6601054" y="3039466"/>
            <a:ext cx="48006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7"/>
          <p:cNvSpPr/>
          <p:nvPr/>
        </p:nvSpPr>
        <p:spPr>
          <a:xfrm>
            <a:off x="6601054" y="2223821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0"/>
          <a:srcRect l="-63" r="-63"/>
          <a:stretch/>
        </p:blipFill>
        <p:spPr>
          <a:xfrm>
            <a:off x="6758330" y="2376526"/>
            <a:ext cx="295351" cy="30449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7401154" y="2210105"/>
            <a:ext cx="1028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2100" dirty="0"/>
          </a:p>
        </p:txBody>
      </p:sp>
      <p:sp>
        <p:nvSpPr>
          <p:cNvPr id="30" name="Text 19"/>
          <p:cNvSpPr txBox="1"/>
          <p:nvPr/>
        </p:nvSpPr>
        <p:spPr>
          <a:xfrm>
            <a:off x="7401154" y="2648102"/>
            <a:ext cx="99669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</a:t>
            </a:r>
            <a:endParaRPr lang="en-US" sz="10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6601054" y="3314700"/>
            <a:ext cx="190195" cy="152705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6943954" y="3276295"/>
            <a:ext cx="210860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hosting service</a:t>
            </a:r>
            <a:endParaRPr lang="en-US" sz="13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01054" y="3762756"/>
            <a:ext cx="152705" cy="152705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6905549" y="3724351"/>
            <a:ext cx="27770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internet connection</a:t>
            </a:r>
            <a:endParaRPr lang="en-US" sz="13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6601054" y="4209898"/>
            <a:ext cx="190195" cy="152705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6943954" y="4172407"/>
            <a:ext cx="37627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layers: PRs, Issues, Wikis</a:t>
            </a:r>
            <a:endParaRPr lang="en-US" sz="13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6601054" y="4657954"/>
            <a:ext cx="133502" cy="152705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6886346" y="4619549"/>
            <a:ext cx="3543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by Microsoft (Acquired 2018)</a:t>
            </a:r>
            <a:endParaRPr lang="en-US" sz="1300" dirty="0"/>
          </a:p>
        </p:txBody>
      </p:sp>
      <p:sp>
        <p:nvSpPr>
          <p:cNvPr id="39" name="Text 24"/>
          <p:cNvSpPr txBox="1"/>
          <p:nvPr/>
        </p:nvSpPr>
        <p:spPr>
          <a:xfrm>
            <a:off x="4202582" y="6286500"/>
            <a:ext cx="3794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platforms: </a:t>
            </a:r>
            <a:r>
              <a:rPr lang="en-US" sz="1000" b="1" dirty="0">
                <a:solidFill>
                  <a:srgbClr val="00B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GitLab</a:t>
            </a: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000" b="1" dirty="0">
                <a:solidFill>
                  <a:srgbClr val="00B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Bitbucket</a:t>
            </a: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000" b="1" dirty="0">
                <a:solidFill>
                  <a:srgbClr val="00B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DevOps</a:t>
            </a:r>
            <a:endParaRPr lang="en-US" sz="1000" dirty="0"/>
          </a:p>
        </p:txBody>
      </p:sp>
      <p:sp>
        <p:nvSpPr>
          <p:cNvPr id="40" name="Shape 25"/>
          <p:cNvSpPr/>
          <p:nvPr/>
        </p:nvSpPr>
        <p:spPr>
          <a:xfrm>
            <a:off x="4262018" y="6200546"/>
            <a:ext cx="3676802" cy="371246"/>
          </a:xfrm>
          <a:prstGeom prst="roundRect">
            <a:avLst>
              <a:gd name="adj" fmla="val 24630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29500" y="-1904695"/>
            <a:ext cx="5715000" cy="5715000"/>
          </a:xfrm>
          <a:prstGeom prst="ellipse">
            <a:avLst/>
          </a:prstGeom>
          <a:solidFill>
            <a:srgbClr val="00B4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00B4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76402" y="286207"/>
            <a:ext cx="66394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Centralized </a:t>
            </a:r>
            <a:r>
              <a:rPr lang="en-US" sz="31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r>
              <a:rPr lang="en-US" sz="3100" b="1" dirty="0">
                <a:solidFill>
                  <a:srgbClr val="00B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476402" y="782726"/>
            <a:ext cx="51919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Fundamental Architecture Shift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767060" y="286207"/>
            <a:ext cx="952805" cy="333756"/>
          </a:xfrm>
          <a:prstGeom prst="roundRect">
            <a:avLst>
              <a:gd name="adj" fmla="val 62622"/>
            </a:avLst>
          </a:prstGeom>
          <a:solidFill>
            <a:srgbClr val="00E5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767060" y="286207"/>
            <a:ext cx="102870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20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76402" y="3183026"/>
            <a:ext cx="11239805" cy="2514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85546" y="3193085"/>
            <a:ext cx="2809951" cy="47640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5546" y="3650285"/>
            <a:ext cx="2809951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85546" y="3193085"/>
            <a:ext cx="2886761" cy="323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0926" y="3193085"/>
            <a:ext cx="4209898" cy="47640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90926" y="3650285"/>
            <a:ext cx="4209898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3290926" y="3193085"/>
            <a:ext cx="4286707" cy="323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TFS/TFVC (Centralized)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98994" y="3193085"/>
            <a:ext cx="4209898" cy="476402"/>
          </a:xfrm>
          <a:prstGeom prst="rect">
            <a:avLst/>
          </a:prstGeom>
          <a:solidFill>
            <a:srgbClr val="00B4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498994" y="3650285"/>
            <a:ext cx="4209898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927848" y="3193085"/>
            <a:ext cx="3857854" cy="323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(Distributed)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5546" y="4412894"/>
            <a:ext cx="2809951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85546" y="3669487"/>
            <a:ext cx="2886761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Work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90926" y="4412894"/>
            <a:ext cx="42098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3748126" y="3669487"/>
            <a:ext cx="3829507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5F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Limited</a:t>
            </a: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connect to server to check out files</a:t>
            </a:r>
            <a:endParaRPr lang="en-US" sz="12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19526" y="3849624"/>
            <a:ext cx="152705" cy="152705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498994" y="3669487"/>
            <a:ext cx="4209898" cy="752551"/>
          </a:xfrm>
          <a:prstGeom prst="rect">
            <a:avLst/>
          </a:prstGeom>
          <a:solidFill>
            <a:srgbClr val="00B4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7498994" y="4412894"/>
            <a:ext cx="42098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7956194" y="3669487"/>
            <a:ext cx="3829507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Capability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Commit, branch, and view history offline</a:t>
            </a:r>
            <a:endParaRPr lang="en-US" sz="12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27594" y="3849624"/>
            <a:ext cx="152705" cy="152705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85546" y="5164531"/>
            <a:ext cx="2809951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485546" y="4421124"/>
            <a:ext cx="2886761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Branching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3290926" y="5164531"/>
            <a:ext cx="42098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3748126" y="4421124"/>
            <a:ext cx="3829507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5F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Heavy / Slow</a:t>
            </a: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Copies all files on the server</a:t>
            </a:r>
            <a:endParaRPr lang="en-US" sz="12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519526" y="4597603"/>
            <a:ext cx="152705" cy="152705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7498994" y="4421124"/>
            <a:ext cx="4209898" cy="752551"/>
          </a:xfrm>
          <a:prstGeom prst="rect">
            <a:avLst/>
          </a:prstGeom>
          <a:solidFill>
            <a:srgbClr val="00B4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7498994" y="5164531"/>
            <a:ext cx="42098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7936992" y="4421124"/>
            <a:ext cx="3848710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Lightweight / Instant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a pointer to a commit hash</a:t>
            </a:r>
            <a:endParaRPr lang="en-US" sz="12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7727594" y="4597603"/>
            <a:ext cx="133502" cy="152705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85546" y="5169103"/>
            <a:ext cx="288676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3748126" y="5169103"/>
            <a:ext cx="38295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Server Only</a:t>
            </a:r>
            <a:endParaRPr lang="en-US" sz="12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519526" y="5345582"/>
            <a:ext cx="152705" cy="15270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7956194" y="5169103"/>
            <a:ext cx="3829507" cy="523951"/>
          </a:xfrm>
          <a:prstGeom prst="rect">
            <a:avLst/>
          </a:prstGeom>
          <a:solidFill>
            <a:srgbClr val="00B4FF">
              <a:alpha val="5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39700" rIns="2286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Local Copy</a:t>
            </a:r>
            <a:endParaRPr lang="en-US" sz="12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27594" y="5345582"/>
            <a:ext cx="152705" cy="152705"/>
          </a:xfrm>
          <a:prstGeom prst="rect">
            <a:avLst/>
          </a:prstGeom>
        </p:spPr>
      </p:pic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7727594" y="3362249"/>
            <a:ext cx="123444" cy="133502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476402" y="1183234"/>
            <a:ext cx="5333695" cy="1809598"/>
          </a:xfrm>
          <a:prstGeom prst="roundRect">
            <a:avLst>
              <a:gd name="adj" fmla="val 638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5"/>
          <p:cNvSpPr/>
          <p:nvPr/>
        </p:nvSpPr>
        <p:spPr>
          <a:xfrm>
            <a:off x="476402" y="1183234"/>
            <a:ext cx="5333695" cy="38405"/>
          </a:xfrm>
          <a:prstGeom prst="roundRect">
            <a:avLst>
              <a:gd name="adj" fmla="val 300750"/>
            </a:avLst>
          </a:prstGeom>
          <a:solidFill>
            <a:srgbClr val="FF5F56"/>
          </a:solidFill>
          <a:ln w="12700">
            <a:solidFill>
              <a:srgbClr val="FF5F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6"/>
          <p:cNvSpPr txBox="1"/>
          <p:nvPr/>
        </p:nvSpPr>
        <p:spPr>
          <a:xfrm>
            <a:off x="1958645" y="1364285"/>
            <a:ext cx="2369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(TFS/TFVC)</a:t>
            </a:r>
            <a:endParaRPr lang="en-US" sz="13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 l="-360" r="-360"/>
          <a:stretch/>
        </p:blipFill>
        <p:spPr>
          <a:xfrm>
            <a:off x="3133649" y="2050085"/>
            <a:ext cx="19202" cy="381305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2391156" y="2740457"/>
            <a:ext cx="1505102" cy="200254"/>
          </a:xfrm>
          <a:prstGeom prst="roundRect">
            <a:avLst>
              <a:gd name="adj" fmla="val 456620"/>
            </a:avLst>
          </a:prstGeom>
          <a:solidFill>
            <a:srgbClr val="FF5F5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8"/>
          <p:cNvSpPr/>
          <p:nvPr/>
        </p:nvSpPr>
        <p:spPr>
          <a:xfrm>
            <a:off x="2352751" y="2740457"/>
            <a:ext cx="15819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5F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Point of Failure</a:t>
            </a:r>
            <a:endParaRPr lang="en-US" sz="800" dirty="0"/>
          </a:p>
        </p:txBody>
      </p:sp>
      <p:sp>
        <p:nvSpPr>
          <p:cNvPr id="50" name="Text 39"/>
          <p:cNvSpPr txBox="1"/>
          <p:nvPr/>
        </p:nvSpPr>
        <p:spPr>
          <a:xfrm>
            <a:off x="2084832" y="2992831"/>
            <a:ext cx="212049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exists </a:t>
            </a: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the server.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6381598" y="1183234"/>
            <a:ext cx="5333695" cy="1809598"/>
          </a:xfrm>
          <a:prstGeom prst="roundRect">
            <a:avLst>
              <a:gd name="adj" fmla="val 638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1"/>
          <p:cNvSpPr/>
          <p:nvPr/>
        </p:nvSpPr>
        <p:spPr>
          <a:xfrm>
            <a:off x="6381598" y="1183234"/>
            <a:ext cx="5333695" cy="38405"/>
          </a:xfrm>
          <a:prstGeom prst="roundRect">
            <a:avLst>
              <a:gd name="adj" fmla="val 300750"/>
            </a:avLst>
          </a:prstGeom>
          <a:solidFill>
            <a:srgbClr val="39FF14"/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2"/>
          <p:cNvSpPr txBox="1"/>
          <p:nvPr/>
        </p:nvSpPr>
        <p:spPr>
          <a:xfrm>
            <a:off x="8250631" y="1364285"/>
            <a:ext cx="159837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(Git)</a:t>
            </a:r>
            <a:endParaRPr lang="en-US" sz="1300" dirty="0"/>
          </a:p>
        </p:txBody>
      </p:sp>
      <p:sp>
        <p:nvSpPr>
          <p:cNvPr id="54" name="Shape 43"/>
          <p:cNvSpPr/>
          <p:nvPr/>
        </p:nvSpPr>
        <p:spPr>
          <a:xfrm>
            <a:off x="8466430" y="2778862"/>
            <a:ext cx="1171346" cy="200254"/>
          </a:xfrm>
          <a:prstGeom prst="roundRect">
            <a:avLst>
              <a:gd name="adj" fmla="val 456620"/>
            </a:avLst>
          </a:prstGeom>
          <a:solidFill>
            <a:srgbClr val="39FF1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4"/>
          <p:cNvSpPr/>
          <p:nvPr/>
        </p:nvSpPr>
        <p:spPr>
          <a:xfrm>
            <a:off x="8428025" y="2778862"/>
            <a:ext cx="124815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Redundant</a:t>
            </a:r>
            <a:endParaRPr lang="en-US" sz="800" dirty="0"/>
          </a:p>
        </p:txBody>
      </p:sp>
      <p:sp>
        <p:nvSpPr>
          <p:cNvPr id="56" name="Text 45"/>
          <p:cNvSpPr txBox="1"/>
          <p:nvPr/>
        </p:nvSpPr>
        <p:spPr>
          <a:xfrm>
            <a:off x="8073238" y="3031236"/>
            <a:ext cx="196138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client has a </a:t>
            </a: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backup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2476195" y="2050085"/>
            <a:ext cx="1333195" cy="381305"/>
          </a:xfrm>
          <a:prstGeom prst="rect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47"/>
          <p:cNvSpPr/>
          <p:nvPr/>
        </p:nvSpPr>
        <p:spPr>
          <a:xfrm>
            <a:off x="8754466" y="2027225"/>
            <a:ext cx="9144" cy="47640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48"/>
          <p:cNvSpPr/>
          <p:nvPr/>
        </p:nvSpPr>
        <p:spPr>
          <a:xfrm>
            <a:off x="9044330" y="2050085"/>
            <a:ext cx="9144" cy="47640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49"/>
          <p:cNvSpPr/>
          <p:nvPr/>
        </p:nvSpPr>
        <p:spPr>
          <a:xfrm>
            <a:off x="9334195" y="2027225"/>
            <a:ext cx="9144" cy="47640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0"/>
          <p:cNvSpPr txBox="1"/>
          <p:nvPr/>
        </p:nvSpPr>
        <p:spPr>
          <a:xfrm>
            <a:off x="2956255" y="2135124"/>
            <a:ext cx="381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</a:t>
            </a:r>
            <a:endParaRPr lang="en-US" sz="800" dirty="0"/>
          </a:p>
        </p:txBody>
      </p:sp>
      <p:pic>
        <p:nvPicPr>
          <p:cNvPr id="6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010205" y="1778508"/>
            <a:ext cx="267005" cy="267005"/>
          </a:xfrm>
          <a:prstGeom prst="rect">
            <a:avLst/>
          </a:prstGeom>
        </p:spPr>
      </p:pic>
      <p:pic>
        <p:nvPicPr>
          <p:cNvPr id="63" name="Image 10" descr="preencoded.png"/>
          <p:cNvPicPr>
            <a:picLocks noChangeAspect="1"/>
          </p:cNvPicPr>
          <p:nvPr/>
        </p:nvPicPr>
        <p:blipFill>
          <a:blip r:embed="rId13"/>
          <a:srcRect l="-1282" r="-1282"/>
          <a:stretch/>
        </p:blipFill>
        <p:spPr>
          <a:xfrm>
            <a:off x="2417674" y="2326234"/>
            <a:ext cx="219456" cy="190195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2418588" y="2535631"/>
            <a:ext cx="2953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1</a:t>
            </a:r>
            <a:endParaRPr lang="en-US" sz="800" dirty="0"/>
          </a:p>
        </p:txBody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13"/>
          <a:srcRect l="-1282" r="-1282"/>
          <a:stretch/>
        </p:blipFill>
        <p:spPr>
          <a:xfrm>
            <a:off x="3025750" y="2326234"/>
            <a:ext cx="219456" cy="190195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3017520" y="2535631"/>
            <a:ext cx="3145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2</a:t>
            </a:r>
            <a:endParaRPr lang="en-US" sz="800" dirty="0"/>
          </a:p>
        </p:txBody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13"/>
          <a:srcRect l="-1282" r="-1282"/>
          <a:stretch/>
        </p:blipFill>
        <p:spPr>
          <a:xfrm>
            <a:off x="3642055" y="2326234"/>
            <a:ext cx="219456" cy="190195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3633826" y="2535631"/>
            <a:ext cx="3145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3</a:t>
            </a:r>
            <a:endParaRPr lang="en-US" sz="800" dirty="0"/>
          </a:p>
        </p:txBody>
      </p:sp>
      <p:sp>
        <p:nvSpPr>
          <p:cNvPr id="69" name="Text 54"/>
          <p:cNvSpPr txBox="1"/>
          <p:nvPr/>
        </p:nvSpPr>
        <p:spPr>
          <a:xfrm>
            <a:off x="8839505" y="2135124"/>
            <a:ext cx="4197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</a:t>
            </a:r>
            <a:endParaRPr lang="en-US" sz="800" dirty="0"/>
          </a:p>
        </p:txBody>
      </p:sp>
      <p:pic>
        <p:nvPicPr>
          <p:cNvPr id="70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881567" y="1778508"/>
            <a:ext cx="333756" cy="267005"/>
          </a:xfrm>
          <a:prstGeom prst="rect">
            <a:avLst/>
          </a:prstGeom>
        </p:spPr>
      </p:pic>
      <p:sp>
        <p:nvSpPr>
          <p:cNvPr id="71" name="Text 55"/>
          <p:cNvSpPr txBox="1"/>
          <p:nvPr/>
        </p:nvSpPr>
        <p:spPr>
          <a:xfrm>
            <a:off x="8323783" y="2574036"/>
            <a:ext cx="2953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1</a:t>
            </a:r>
            <a:endParaRPr lang="en-US" sz="800" dirty="0"/>
          </a:p>
        </p:txBody>
      </p:sp>
      <p:sp>
        <p:nvSpPr>
          <p:cNvPr id="72" name="Text 56"/>
          <p:cNvSpPr txBox="1"/>
          <p:nvPr/>
        </p:nvSpPr>
        <p:spPr>
          <a:xfrm>
            <a:off x="8922715" y="2574036"/>
            <a:ext cx="3145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2</a:t>
            </a:r>
            <a:endParaRPr lang="en-US" sz="800" dirty="0"/>
          </a:p>
        </p:txBody>
      </p:sp>
      <p:sp>
        <p:nvSpPr>
          <p:cNvPr id="73" name="Text 57"/>
          <p:cNvSpPr txBox="1"/>
          <p:nvPr/>
        </p:nvSpPr>
        <p:spPr>
          <a:xfrm>
            <a:off x="9539021" y="2574036"/>
            <a:ext cx="3145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3</a:t>
            </a:r>
            <a:endParaRPr lang="en-US" sz="800" dirty="0"/>
          </a:p>
        </p:txBody>
      </p:sp>
      <p:pic>
        <p:nvPicPr>
          <p:cNvPr id="74" name="Image 14" descr="preencoded.png"/>
          <p:cNvPicPr>
            <a:picLocks noChangeAspect="1"/>
          </p:cNvPicPr>
          <p:nvPr/>
        </p:nvPicPr>
        <p:blipFill>
          <a:blip r:embed="rId15"/>
          <a:srcRect l="-1282" r="-1282"/>
          <a:stretch/>
        </p:blipFill>
        <p:spPr>
          <a:xfrm>
            <a:off x="8322869" y="2330806"/>
            <a:ext cx="219456" cy="190195"/>
          </a:xfrm>
          <a:prstGeom prst="rect">
            <a:avLst/>
          </a:prstGeom>
        </p:spPr>
      </p:pic>
      <p:pic>
        <p:nvPicPr>
          <p:cNvPr id="75" name="Image 15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8484718" y="2488082"/>
            <a:ext cx="105156" cy="114300"/>
          </a:xfrm>
          <a:prstGeom prst="rect">
            <a:avLst/>
          </a:prstGeom>
        </p:spPr>
      </p:pic>
      <p:pic>
        <p:nvPicPr>
          <p:cNvPr id="76" name="Image 16" descr="preencoded.png"/>
          <p:cNvPicPr>
            <a:picLocks noChangeAspect="1"/>
          </p:cNvPicPr>
          <p:nvPr/>
        </p:nvPicPr>
        <p:blipFill>
          <a:blip r:embed="rId15"/>
          <a:srcRect l="-1282" r="-1282"/>
          <a:stretch/>
        </p:blipFill>
        <p:spPr>
          <a:xfrm>
            <a:off x="8930945" y="2330806"/>
            <a:ext cx="219456" cy="190195"/>
          </a:xfrm>
          <a:prstGeom prst="rect">
            <a:avLst/>
          </a:prstGeom>
        </p:spPr>
      </p:pic>
      <p:pic>
        <p:nvPicPr>
          <p:cNvPr id="77" name="Image 17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9092794" y="2488082"/>
            <a:ext cx="105156" cy="114300"/>
          </a:xfrm>
          <a:prstGeom prst="rect">
            <a:avLst/>
          </a:prstGeom>
        </p:spPr>
      </p:pic>
      <p:pic>
        <p:nvPicPr>
          <p:cNvPr id="78" name="Image 18" descr="preencoded.png"/>
          <p:cNvPicPr>
            <a:picLocks noChangeAspect="1"/>
          </p:cNvPicPr>
          <p:nvPr/>
        </p:nvPicPr>
        <p:blipFill>
          <a:blip r:embed="rId15"/>
          <a:srcRect l="-1282" r="-1282"/>
          <a:stretch/>
        </p:blipFill>
        <p:spPr>
          <a:xfrm>
            <a:off x="9547250" y="2330806"/>
            <a:ext cx="219456" cy="190195"/>
          </a:xfrm>
          <a:prstGeom prst="rect">
            <a:avLst/>
          </a:prstGeom>
        </p:spPr>
      </p:pic>
      <p:pic>
        <p:nvPicPr>
          <p:cNvPr id="79" name="Image 19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9709099" y="2488082"/>
            <a:ext cx="105156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904695" y="4000500"/>
            <a:ext cx="4762195" cy="47621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35331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381305"/>
            <a:ext cx="51517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Git Terminology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897026"/>
            <a:ext cx="4305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Essential Vocabulary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827410" y="830275"/>
            <a:ext cx="895198" cy="323698"/>
          </a:xfrm>
          <a:prstGeom prst="roundRect">
            <a:avLst>
              <a:gd name="adj" fmla="val 664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827410" y="830275"/>
            <a:ext cx="9528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6402" y="1967789"/>
            <a:ext cx="2638044" cy="2124151"/>
          </a:xfrm>
          <a:prstGeom prst="roundRect">
            <a:avLst>
              <a:gd name="adj" fmla="val 46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14146" y="2205533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00B4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833018" y="2339035"/>
            <a:ext cx="219456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4146" y="2853842"/>
            <a:ext cx="224942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14146" y="3253435"/>
            <a:ext cx="22384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folder containing the 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</a:t>
            </a: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folder and all version history.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343046" y="1967789"/>
            <a:ext cx="2638044" cy="2124151"/>
          </a:xfrm>
          <a:prstGeom prst="roundRect">
            <a:avLst>
              <a:gd name="adj" fmla="val 46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581705" y="2205533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39FF1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715207" y="2339035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581705" y="2853842"/>
            <a:ext cx="224942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3581705" y="3253435"/>
            <a:ext cx="22384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Copying a remote repository to a local machine to start working.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210605" y="1967789"/>
            <a:ext cx="2638044" cy="2124151"/>
          </a:xfrm>
          <a:prstGeom prst="roundRect">
            <a:avLst>
              <a:gd name="adj" fmla="val 46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448349" y="2205533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05032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81851" y="2339035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448349" y="2853842"/>
            <a:ext cx="224942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448349" y="3253435"/>
            <a:ext cx="22384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snapshot of changes at a specific time. Saved permanently to history.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077249" y="1967789"/>
            <a:ext cx="2638044" cy="2124151"/>
          </a:xfrm>
          <a:prstGeom prst="roundRect">
            <a:avLst>
              <a:gd name="adj" fmla="val 46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9315907" y="2205533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A855F7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9458554" y="2339035"/>
            <a:ext cx="171907" cy="1901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315907" y="2853842"/>
            <a:ext cx="224942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9315907" y="3253435"/>
            <a:ext cx="22384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independent line of development used to isolate features or fixes.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1880921" y="4320540"/>
            <a:ext cx="2657246" cy="1923898"/>
          </a:xfrm>
          <a:prstGeom prst="roundRect">
            <a:avLst>
              <a:gd name="adj" fmla="val 56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2119579" y="4558284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229307" y="4691786"/>
            <a:ext cx="237744" cy="1901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2119579" y="5206594"/>
            <a:ext cx="226862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2119579" y="5606186"/>
            <a:ext cx="22576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Downloading and merging remote changes into your local branch.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4767682" y="4320540"/>
            <a:ext cx="2657246" cy="1923898"/>
          </a:xfrm>
          <a:prstGeom prst="roundRect">
            <a:avLst>
              <a:gd name="adj" fmla="val 56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28"/>
          <p:cNvSpPr/>
          <p:nvPr/>
        </p:nvSpPr>
        <p:spPr>
          <a:xfrm>
            <a:off x="5005426" y="4558284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C4899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5148072" y="4691786"/>
            <a:ext cx="171907" cy="19019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5005426" y="5206594"/>
            <a:ext cx="226862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</a:t>
            </a:r>
            <a:endParaRPr lang="en-US" sz="1500" dirty="0"/>
          </a:p>
        </p:txBody>
      </p:sp>
      <p:sp>
        <p:nvSpPr>
          <p:cNvPr id="40" name="Text 30"/>
          <p:cNvSpPr txBox="1"/>
          <p:nvPr/>
        </p:nvSpPr>
        <p:spPr>
          <a:xfrm>
            <a:off x="5005426" y="5606186"/>
            <a:ext cx="22576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Combining changes from one branch (e.g., feature) into another.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7653528" y="4320540"/>
            <a:ext cx="2657246" cy="1923898"/>
          </a:xfrm>
          <a:prstGeom prst="roundRect">
            <a:avLst>
              <a:gd name="adj" fmla="val 56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2"/>
          <p:cNvSpPr/>
          <p:nvPr/>
        </p:nvSpPr>
        <p:spPr>
          <a:xfrm>
            <a:off x="7891272" y="4558284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00E5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01000" y="4691786"/>
            <a:ext cx="237744" cy="19019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7891272" y="5206594"/>
            <a:ext cx="226862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</a:t>
            </a:r>
            <a:endParaRPr lang="en-US" sz="1500" dirty="0"/>
          </a:p>
        </p:txBody>
      </p:sp>
      <p:sp>
        <p:nvSpPr>
          <p:cNvPr id="45" name="Text 34"/>
          <p:cNvSpPr txBox="1"/>
          <p:nvPr/>
        </p:nvSpPr>
        <p:spPr>
          <a:xfrm>
            <a:off x="7891272" y="5606186"/>
            <a:ext cx="22576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Uploading your local commits and history to a remote server.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2286000" y="5400446"/>
            <a:ext cx="7619695" cy="10762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971800" y="5829300"/>
            <a:ext cx="6725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 make multiple local commits (snapshots) before pushing them all at once. This keeps your work saved without spamming the server.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2609698" y="5814670"/>
            <a:ext cx="171907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71800" y="5609844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TIP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66598" y="2074774"/>
            <a:ext cx="6096305" cy="9144"/>
          </a:xfrm>
          <a:prstGeom prst="rect">
            <a:avLst/>
          </a:prstGeom>
          <a:solidFill>
            <a:srgbClr val="00B4FF">
              <a:alpha val="30000"/>
            </a:srgbClr>
          </a:solidFill>
          <a:ln w="12700">
            <a:solidFill>
              <a:srgbClr val="00B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3320186" y="1826971"/>
            <a:ext cx="3518611" cy="1728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Machine 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3440" r="-3440"/>
          <a:stretch/>
        </p:blipFill>
        <p:spPr>
          <a:xfrm>
            <a:off x="3091586" y="1859890"/>
            <a:ext cx="152705" cy="1143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951269" y="2074774"/>
            <a:ext cx="4581144" cy="9144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8844991" y="1826971"/>
            <a:ext cx="2764231" cy="1728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Server 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3440" r="-3440"/>
          <a:stretch/>
        </p:blipFill>
        <p:spPr>
          <a:xfrm>
            <a:off x="8616391" y="1859890"/>
            <a:ext cx="152705" cy="11430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401" b="-401"/>
          <a:stretch/>
        </p:blipFill>
        <p:spPr>
          <a:xfrm>
            <a:off x="857707" y="2845613"/>
            <a:ext cx="10477195" cy="3840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t="-1087" b="-1087"/>
          <a:stretch/>
        </p:blipFill>
        <p:spPr>
          <a:xfrm>
            <a:off x="1796796" y="2760574"/>
            <a:ext cx="105156" cy="171907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rcRect t="-1087" b="-1087"/>
          <a:stretch/>
        </p:blipFill>
        <p:spPr>
          <a:xfrm>
            <a:off x="3495751" y="2760574"/>
            <a:ext cx="105156" cy="171907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8"/>
          <a:srcRect t="-1087" b="-1087"/>
          <a:stretch/>
        </p:blipFill>
        <p:spPr>
          <a:xfrm>
            <a:off x="5193792" y="2760574"/>
            <a:ext cx="105156" cy="171907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/>
          <a:srcRect t="-1087" b="-1087"/>
          <a:stretch/>
        </p:blipFill>
        <p:spPr>
          <a:xfrm>
            <a:off x="6891833" y="2760574"/>
            <a:ext cx="105156" cy="171907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8"/>
          <a:srcRect t="-1087" b="-1087"/>
          <a:stretch/>
        </p:blipFill>
        <p:spPr>
          <a:xfrm>
            <a:off x="8590788" y="2760574"/>
            <a:ext cx="105156" cy="171907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8"/>
          <a:srcRect t="-1087" b="-1087"/>
          <a:stretch/>
        </p:blipFill>
        <p:spPr>
          <a:xfrm>
            <a:off x="10288829" y="2760574"/>
            <a:ext cx="105156" cy="171907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19049" y="2465222"/>
            <a:ext cx="761695" cy="761695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6851" y="2713025"/>
            <a:ext cx="267005" cy="267005"/>
          </a:xfrm>
          <a:prstGeom prst="rect">
            <a:avLst/>
          </a:prstGeom>
        </p:spPr>
      </p:pic>
      <p:sp>
        <p:nvSpPr>
          <p:cNvPr id="23" name="Text 8"/>
          <p:cNvSpPr txBox="1"/>
          <p:nvPr/>
        </p:nvSpPr>
        <p:spPr>
          <a:xfrm>
            <a:off x="781812" y="3379622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</a:t>
            </a:r>
            <a:endParaRPr lang="en-US" sz="1000" dirty="0"/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1"/>
          <a:srcRect t="-425" b="-425"/>
          <a:stretch/>
        </p:blipFill>
        <p:spPr>
          <a:xfrm>
            <a:off x="630936" y="3779215"/>
            <a:ext cx="743407" cy="295351"/>
          </a:xfrm>
          <a:prstGeom prst="rect">
            <a:avLst/>
          </a:prstGeom>
        </p:spPr>
      </p:pic>
      <p:sp>
        <p:nvSpPr>
          <p:cNvPr id="25" name="Text 9"/>
          <p:cNvSpPr txBox="1"/>
          <p:nvPr/>
        </p:nvSpPr>
        <p:spPr>
          <a:xfrm>
            <a:off x="602590" y="3779215"/>
            <a:ext cx="8001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80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318004" y="2465222"/>
            <a:ext cx="761695" cy="761695"/>
          </a:xfrm>
          <a:prstGeom prst="rect">
            <a:avLst/>
          </a:prstGeom>
        </p:spPr>
      </p:pic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2"/>
          <a:srcRect l="-881" r="-881"/>
          <a:stretch/>
        </p:blipFill>
        <p:spPr>
          <a:xfrm>
            <a:off x="2579522" y="2713025"/>
            <a:ext cx="237744" cy="267005"/>
          </a:xfrm>
          <a:prstGeom prst="rect">
            <a:avLst/>
          </a:prstGeom>
        </p:spPr>
      </p:pic>
      <p:sp>
        <p:nvSpPr>
          <p:cNvPr id="28" name="Text 10"/>
          <p:cNvSpPr txBox="1"/>
          <p:nvPr/>
        </p:nvSpPr>
        <p:spPr>
          <a:xfrm>
            <a:off x="2276856" y="3379622"/>
            <a:ext cx="8485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Branch</a:t>
            </a:r>
            <a:endParaRPr lang="en-US" sz="1000" dirty="0"/>
          </a:p>
        </p:txBody>
      </p:sp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t="-422" b="-422"/>
          <a:stretch/>
        </p:blipFill>
        <p:spPr>
          <a:xfrm>
            <a:off x="2141525" y="3779215"/>
            <a:ext cx="1123798" cy="295351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2112264" y="3779215"/>
            <a:ext cx="11814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</a:t>
            </a:r>
            <a:endParaRPr lang="en-US" sz="800" dirty="0"/>
          </a:p>
        </p:txBody>
      </p:sp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016045" y="2465222"/>
            <a:ext cx="761695" cy="761695"/>
          </a:xfrm>
          <a:prstGeom prst="rect">
            <a:avLst/>
          </a:prstGeom>
        </p:spPr>
      </p:pic>
      <p:pic>
        <p:nvPicPr>
          <p:cNvPr id="32" name="Image 18" descr="preencoded.png"/>
          <p:cNvPicPr>
            <a:picLocks noChangeAspect="1"/>
          </p:cNvPicPr>
          <p:nvPr/>
        </p:nvPicPr>
        <p:blipFill>
          <a:blip r:embed="rId14"/>
          <a:srcRect l="-685" r="-685"/>
          <a:stretch/>
        </p:blipFill>
        <p:spPr>
          <a:xfrm>
            <a:off x="4244645" y="2713025"/>
            <a:ext cx="304495" cy="267005"/>
          </a:xfrm>
          <a:prstGeom prst="rect">
            <a:avLst/>
          </a:prstGeom>
        </p:spPr>
      </p:pic>
      <p:sp>
        <p:nvSpPr>
          <p:cNvPr id="33" name="Text 12"/>
          <p:cNvSpPr txBox="1"/>
          <p:nvPr/>
        </p:nvSpPr>
        <p:spPr>
          <a:xfrm>
            <a:off x="3977640" y="3379622"/>
            <a:ext cx="838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&amp; Stage</a:t>
            </a:r>
            <a:endParaRPr lang="en-US" sz="1000" dirty="0"/>
          </a:p>
        </p:txBody>
      </p:sp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15"/>
          <a:srcRect t="-228" b="-228"/>
          <a:stretch/>
        </p:blipFill>
        <p:spPr>
          <a:xfrm>
            <a:off x="4091026" y="3779215"/>
            <a:ext cx="619049" cy="295351"/>
          </a:xfrm>
          <a:prstGeom prst="rect">
            <a:avLst/>
          </a:prstGeom>
        </p:spPr>
      </p:pic>
      <p:sp>
        <p:nvSpPr>
          <p:cNvPr id="35" name="Text 13"/>
          <p:cNvSpPr txBox="1"/>
          <p:nvPr/>
        </p:nvSpPr>
        <p:spPr>
          <a:xfrm>
            <a:off x="4062679" y="3779215"/>
            <a:ext cx="6766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800" dirty="0"/>
          </a:p>
        </p:txBody>
      </p:sp>
      <p:pic>
        <p:nvPicPr>
          <p:cNvPr id="36" name="Image 2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14086" y="2465222"/>
            <a:ext cx="761695" cy="761695"/>
          </a:xfrm>
          <a:prstGeom prst="rect">
            <a:avLst/>
          </a:prstGeom>
        </p:spPr>
      </p:pic>
      <p:pic>
        <p:nvPicPr>
          <p:cNvPr id="37" name="Image 21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961888" y="2713025"/>
            <a:ext cx="267005" cy="267005"/>
          </a:xfrm>
          <a:prstGeom prst="rect">
            <a:avLst/>
          </a:prstGeom>
        </p:spPr>
      </p:pic>
      <p:sp>
        <p:nvSpPr>
          <p:cNvPr id="38" name="Text 14"/>
          <p:cNvSpPr txBox="1"/>
          <p:nvPr/>
        </p:nvSpPr>
        <p:spPr>
          <a:xfrm>
            <a:off x="5811926" y="3379622"/>
            <a:ext cx="5715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</a:t>
            </a:r>
            <a:endParaRPr lang="en-US" sz="1000" dirty="0"/>
          </a:p>
        </p:txBody>
      </p:sp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7"/>
          <a:srcRect t="-268" b="-268"/>
          <a:stretch/>
        </p:blipFill>
        <p:spPr>
          <a:xfrm>
            <a:off x="5694883" y="3779215"/>
            <a:ext cx="809244" cy="295351"/>
          </a:xfrm>
          <a:prstGeom prst="rect">
            <a:avLst/>
          </a:prstGeom>
        </p:spPr>
      </p:pic>
      <p:sp>
        <p:nvSpPr>
          <p:cNvPr id="40" name="Text 15"/>
          <p:cNvSpPr txBox="1"/>
          <p:nvPr/>
        </p:nvSpPr>
        <p:spPr>
          <a:xfrm>
            <a:off x="5666537" y="3779215"/>
            <a:ext cx="8668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800" dirty="0"/>
          </a:p>
        </p:txBody>
      </p:sp>
      <p:pic>
        <p:nvPicPr>
          <p:cNvPr id="41" name="Image 23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413041" y="2465222"/>
            <a:ext cx="761695" cy="761695"/>
          </a:xfrm>
          <a:prstGeom prst="rect">
            <a:avLst/>
          </a:prstGeom>
        </p:spPr>
      </p:pic>
      <p:pic>
        <p:nvPicPr>
          <p:cNvPr id="42" name="Image 24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7627010" y="2713025"/>
            <a:ext cx="333756" cy="267005"/>
          </a:xfrm>
          <a:prstGeom prst="rect">
            <a:avLst/>
          </a:prstGeom>
        </p:spPr>
      </p:pic>
      <p:sp>
        <p:nvSpPr>
          <p:cNvPr id="43" name="Text 16"/>
          <p:cNvSpPr txBox="1"/>
          <p:nvPr/>
        </p:nvSpPr>
        <p:spPr>
          <a:xfrm>
            <a:off x="7601407" y="3379622"/>
            <a:ext cx="3913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</a:t>
            </a:r>
            <a:endParaRPr lang="en-US" sz="1000" dirty="0"/>
          </a:p>
        </p:txBody>
      </p:sp>
      <p:pic>
        <p:nvPicPr>
          <p:cNvPr id="44" name="Image 25" descr="preencoded.png"/>
          <p:cNvPicPr>
            <a:picLocks noChangeAspect="1"/>
          </p:cNvPicPr>
          <p:nvPr/>
        </p:nvPicPr>
        <p:blipFill>
          <a:blip r:embed="rId20"/>
          <a:srcRect t="-670" b="-670"/>
          <a:stretch/>
        </p:blipFill>
        <p:spPr>
          <a:xfrm>
            <a:off x="7456932" y="3779215"/>
            <a:ext cx="676656" cy="295351"/>
          </a:xfrm>
          <a:prstGeom prst="rect">
            <a:avLst/>
          </a:prstGeom>
        </p:spPr>
      </p:pic>
      <p:sp>
        <p:nvSpPr>
          <p:cNvPr id="45" name="Text 17"/>
          <p:cNvSpPr txBox="1"/>
          <p:nvPr/>
        </p:nvSpPr>
        <p:spPr>
          <a:xfrm>
            <a:off x="7427671" y="3779215"/>
            <a:ext cx="7342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800" dirty="0"/>
          </a:p>
        </p:txBody>
      </p:sp>
      <p:pic>
        <p:nvPicPr>
          <p:cNvPr id="46" name="Image 2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9111082" y="2465222"/>
            <a:ext cx="761695" cy="761695"/>
          </a:xfrm>
          <a:prstGeom prst="rect">
            <a:avLst/>
          </a:prstGeom>
        </p:spPr>
      </p:pic>
      <p:pic>
        <p:nvPicPr>
          <p:cNvPr id="47" name="Image 27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9358884" y="2713025"/>
            <a:ext cx="267005" cy="267005"/>
          </a:xfrm>
          <a:prstGeom prst="rect">
            <a:avLst/>
          </a:prstGeom>
        </p:spPr>
      </p:pic>
      <p:sp>
        <p:nvSpPr>
          <p:cNvPr id="48" name="Text 18"/>
          <p:cNvSpPr txBox="1"/>
          <p:nvPr/>
        </p:nvSpPr>
        <p:spPr>
          <a:xfrm>
            <a:off x="9058961" y="3379622"/>
            <a:ext cx="8668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Request</a:t>
            </a:r>
            <a:endParaRPr lang="en-US" sz="1000" dirty="0"/>
          </a:p>
        </p:txBody>
      </p:sp>
      <p:pic>
        <p:nvPicPr>
          <p:cNvPr id="49" name="Image 28" descr="preencoded.png"/>
          <p:cNvPicPr>
            <a:picLocks noChangeAspect="1"/>
          </p:cNvPicPr>
          <p:nvPr/>
        </p:nvPicPr>
        <p:blipFill>
          <a:blip r:embed="rId11"/>
          <a:srcRect t="-425" b="-425"/>
          <a:stretch/>
        </p:blipFill>
        <p:spPr>
          <a:xfrm>
            <a:off x="9123883" y="3779215"/>
            <a:ext cx="743407" cy="295351"/>
          </a:xfrm>
          <a:prstGeom prst="rect">
            <a:avLst/>
          </a:prstGeom>
        </p:spPr>
      </p:pic>
      <p:sp>
        <p:nvSpPr>
          <p:cNvPr id="50" name="Text 19"/>
          <p:cNvSpPr txBox="1"/>
          <p:nvPr/>
        </p:nvSpPr>
        <p:spPr>
          <a:xfrm>
            <a:off x="9094622" y="3779215"/>
            <a:ext cx="8001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</a:t>
            </a:r>
            <a:endParaRPr lang="en-US" sz="800" dirty="0"/>
          </a:p>
        </p:txBody>
      </p:sp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0810037" y="2465222"/>
            <a:ext cx="761695" cy="761695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3"/>
          <a:srcRect l="-881" r="-881"/>
          <a:stretch/>
        </p:blipFill>
        <p:spPr>
          <a:xfrm>
            <a:off x="11071555" y="2713025"/>
            <a:ext cx="237744" cy="267005"/>
          </a:xfrm>
          <a:prstGeom prst="rect">
            <a:avLst/>
          </a:prstGeom>
        </p:spPr>
      </p:pic>
      <p:sp>
        <p:nvSpPr>
          <p:cNvPr id="53" name="Text 20"/>
          <p:cNvSpPr txBox="1"/>
          <p:nvPr/>
        </p:nvSpPr>
        <p:spPr>
          <a:xfrm>
            <a:off x="10641787" y="3379622"/>
            <a:ext cx="11055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&amp; Merge</a:t>
            </a:r>
            <a:endParaRPr lang="en-US" sz="1000" dirty="0"/>
          </a:p>
        </p:txBody>
      </p:sp>
      <p:pic>
        <p:nvPicPr>
          <p:cNvPr id="54" name="Image 31" descr="preencoded.png"/>
          <p:cNvPicPr>
            <a:picLocks noChangeAspect="1"/>
          </p:cNvPicPr>
          <p:nvPr/>
        </p:nvPicPr>
        <p:blipFill>
          <a:blip r:embed="rId24"/>
          <a:srcRect t="-764" b="-764"/>
          <a:stretch/>
        </p:blipFill>
        <p:spPr>
          <a:xfrm>
            <a:off x="10695737" y="3779215"/>
            <a:ext cx="990295" cy="295351"/>
          </a:xfrm>
          <a:prstGeom prst="rect">
            <a:avLst/>
          </a:prstGeom>
        </p:spPr>
      </p:pic>
      <p:sp>
        <p:nvSpPr>
          <p:cNvPr id="55" name="Text 21"/>
          <p:cNvSpPr txBox="1"/>
          <p:nvPr/>
        </p:nvSpPr>
        <p:spPr>
          <a:xfrm>
            <a:off x="10667390" y="3779215"/>
            <a:ext cx="10479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to main</a:t>
            </a:r>
            <a:endParaRPr lang="en-US" sz="800" dirty="0"/>
          </a:p>
        </p:txBody>
      </p:sp>
      <p:sp>
        <p:nvSpPr>
          <p:cNvPr id="56" name="Shape 22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23"/>
          <p:cNvSpPr txBox="1"/>
          <p:nvPr/>
        </p:nvSpPr>
        <p:spPr>
          <a:xfrm>
            <a:off x="476402" y="381305"/>
            <a:ext cx="642731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Basic Git Workflow</a:t>
            </a:r>
            <a:endParaRPr lang="en-US" sz="3600" dirty="0"/>
          </a:p>
        </p:txBody>
      </p:sp>
      <p:sp>
        <p:nvSpPr>
          <p:cNvPr id="58" name="Text 24"/>
          <p:cNvSpPr txBox="1"/>
          <p:nvPr/>
        </p:nvSpPr>
        <p:spPr>
          <a:xfrm>
            <a:off x="476402" y="960120"/>
            <a:ext cx="53821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Clone to Merge — Step by Step</a:t>
            </a:r>
            <a:endParaRPr lang="en-US" sz="1500" dirty="0"/>
          </a:p>
        </p:txBody>
      </p:sp>
      <p:sp>
        <p:nvSpPr>
          <p:cNvPr id="59" name="Shape 25"/>
          <p:cNvSpPr/>
          <p:nvPr/>
        </p:nvSpPr>
        <p:spPr>
          <a:xfrm>
            <a:off x="10827410" y="381305"/>
            <a:ext cx="895198" cy="362102"/>
          </a:xfrm>
          <a:prstGeom prst="roundRect">
            <a:avLst>
              <a:gd name="adj" fmla="val 7974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26"/>
          <p:cNvSpPr txBox="1"/>
          <p:nvPr/>
        </p:nvSpPr>
        <p:spPr>
          <a:xfrm>
            <a:off x="10827410" y="381305"/>
            <a:ext cx="9528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8858707" y="-952805"/>
            <a:ext cx="3810305" cy="38103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35331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381305"/>
            <a:ext cx="56473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Git Commands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897026"/>
            <a:ext cx="4934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Daily Git Toolkit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789920" y="381305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789920" y="381305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20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5" b="-5"/>
          <a:stretch/>
        </p:blipFill>
        <p:spPr>
          <a:xfrm>
            <a:off x="476402" y="1640434"/>
            <a:ext cx="5505602" cy="284835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6656" y="2297887"/>
            <a:ext cx="51050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676656" y="1840687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00B4FF">
              <a:alpha val="15000"/>
            </a:srgbClr>
          </a:solidFill>
          <a:ln w="12700">
            <a:solidFill>
              <a:srgbClr val="00B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737921" y="1925726"/>
            <a:ext cx="219456" cy="17190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33856" y="1882750"/>
            <a:ext cx="14319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Changes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 t="-3" b="-3"/>
          <a:stretch/>
        </p:blipFill>
        <p:spPr>
          <a:xfrm>
            <a:off x="676656" y="2459736"/>
            <a:ext cx="5105095" cy="18288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38505" y="2621585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1013155" y="2621585"/>
            <a:ext cx="8860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4134002" y="2621585"/>
            <a:ext cx="1571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changed files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838505" y="2916936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1013155" y="2916936"/>
            <a:ext cx="800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</a:t>
            </a: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4208069" y="2916936"/>
            <a:ext cx="1495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all changes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838505" y="3212287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1013155" y="3212287"/>
            <a:ext cx="1600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</a:t>
            </a: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"msg"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4505249" y="3212287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snapshot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838505" y="3506724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13155" y="3506724"/>
            <a:ext cx="724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4356202" y="3506724"/>
            <a:ext cx="1343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 file diffs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838505" y="3802075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013155" y="3802075"/>
            <a:ext cx="800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3835908" y="3802075"/>
            <a:ext cx="1867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Temporarily store work</a:t>
            </a:r>
            <a:endParaRPr lang="en-US" sz="9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l="-12" r="-12"/>
          <a:stretch/>
        </p:blipFill>
        <p:spPr>
          <a:xfrm>
            <a:off x="476402" y="4716475"/>
            <a:ext cx="5505602" cy="1837944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676656" y="5373929"/>
            <a:ext cx="51050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676656" y="491672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A855F7">
              <a:alpha val="15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5002682"/>
            <a:ext cx="171907" cy="17190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133856" y="4959706"/>
            <a:ext cx="73700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13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rcRect t="-12" b="-12"/>
          <a:stretch/>
        </p:blipFill>
        <p:spPr>
          <a:xfrm>
            <a:off x="676656" y="5535778"/>
            <a:ext cx="5105095" cy="81930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38505" y="5697626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1013155" y="5697626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4208069" y="5697626"/>
            <a:ext cx="1495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full history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838505" y="5992978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1013155" y="5992978"/>
            <a:ext cx="1438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</a:t>
            </a: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--oneline</a:t>
            </a:r>
            <a:endParaRPr lang="en-US" sz="1000" dirty="0"/>
          </a:p>
        </p:txBody>
      </p:sp>
      <p:sp>
        <p:nvSpPr>
          <p:cNvPr id="43" name="Text 33"/>
          <p:cNvSpPr txBox="1"/>
          <p:nvPr/>
        </p:nvSpPr>
        <p:spPr>
          <a:xfrm>
            <a:off x="4208069" y="5992978"/>
            <a:ext cx="1495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Condensed history</a:t>
            </a:r>
            <a:endParaRPr lang="en-US" sz="9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 l="-9" r="-9"/>
          <a:stretch/>
        </p:blipFill>
        <p:spPr>
          <a:xfrm>
            <a:off x="6210605" y="1640434"/>
            <a:ext cx="5505602" cy="2133295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6409944" y="2297887"/>
            <a:ext cx="51050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5"/>
          <p:cNvSpPr/>
          <p:nvPr/>
        </p:nvSpPr>
        <p:spPr>
          <a:xfrm>
            <a:off x="6409944" y="1840687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rcRect l="-1064" r="-1064"/>
          <a:stretch/>
        </p:blipFill>
        <p:spPr>
          <a:xfrm>
            <a:off x="6472123" y="1925726"/>
            <a:ext cx="219456" cy="171907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6867144" y="1882750"/>
            <a:ext cx="121432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Sync</a:t>
            </a:r>
            <a:endParaRPr lang="en-US" sz="13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3"/>
          <a:srcRect t="-13" b="-13"/>
          <a:stretch/>
        </p:blipFill>
        <p:spPr>
          <a:xfrm>
            <a:off x="6409944" y="2459736"/>
            <a:ext cx="5105095" cy="1114654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6572707" y="2621585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51" name="Text 38"/>
          <p:cNvSpPr txBox="1"/>
          <p:nvPr/>
        </p:nvSpPr>
        <p:spPr>
          <a:xfrm>
            <a:off x="6747358" y="2621585"/>
            <a:ext cx="1286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</a:t>
            </a: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&lt;url&gt;</a:t>
            </a:r>
            <a:endParaRPr lang="en-US" sz="1000" dirty="0"/>
          </a:p>
        </p:txBody>
      </p:sp>
      <p:sp>
        <p:nvSpPr>
          <p:cNvPr id="52" name="Text 39"/>
          <p:cNvSpPr txBox="1"/>
          <p:nvPr/>
        </p:nvSpPr>
        <p:spPr>
          <a:xfrm>
            <a:off x="10239451" y="2621585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Download repo</a:t>
            </a:r>
            <a:endParaRPr lang="en-US" sz="900" dirty="0"/>
          </a:p>
        </p:txBody>
      </p:sp>
      <p:sp>
        <p:nvSpPr>
          <p:cNvPr id="53" name="Text 40"/>
          <p:cNvSpPr txBox="1"/>
          <p:nvPr/>
        </p:nvSpPr>
        <p:spPr>
          <a:xfrm>
            <a:off x="6572707" y="2916936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54" name="Text 41"/>
          <p:cNvSpPr txBox="1"/>
          <p:nvPr/>
        </p:nvSpPr>
        <p:spPr>
          <a:xfrm>
            <a:off x="6747358" y="2916936"/>
            <a:ext cx="724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000" dirty="0"/>
          </a:p>
        </p:txBody>
      </p:sp>
      <p:sp>
        <p:nvSpPr>
          <p:cNvPr id="55" name="Text 42"/>
          <p:cNvSpPr txBox="1"/>
          <p:nvPr/>
        </p:nvSpPr>
        <p:spPr>
          <a:xfrm>
            <a:off x="10313518" y="2916936"/>
            <a:ext cx="1124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 local</a:t>
            </a:r>
            <a:endParaRPr lang="en-US" sz="900" dirty="0"/>
          </a:p>
        </p:txBody>
      </p:sp>
      <p:sp>
        <p:nvSpPr>
          <p:cNvPr id="56" name="Text 43"/>
          <p:cNvSpPr txBox="1"/>
          <p:nvPr/>
        </p:nvSpPr>
        <p:spPr>
          <a:xfrm>
            <a:off x="6572707" y="3212287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57" name="Text 44"/>
          <p:cNvSpPr txBox="1"/>
          <p:nvPr/>
        </p:nvSpPr>
        <p:spPr>
          <a:xfrm>
            <a:off x="6747358" y="3212287"/>
            <a:ext cx="724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00" dirty="0"/>
          </a:p>
        </p:txBody>
      </p:sp>
      <p:sp>
        <p:nvSpPr>
          <p:cNvPr id="58" name="Text 45"/>
          <p:cNvSpPr txBox="1"/>
          <p:nvPr/>
        </p:nvSpPr>
        <p:spPr>
          <a:xfrm>
            <a:off x="10164470" y="3212287"/>
            <a:ext cx="1267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Upload changes</a:t>
            </a:r>
            <a:endParaRPr lang="en-US" sz="900" dirty="0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4"/>
          <a:srcRect t="-5" b="-5"/>
          <a:stretch/>
        </p:blipFill>
        <p:spPr>
          <a:xfrm>
            <a:off x="6210605" y="4002329"/>
            <a:ext cx="5505602" cy="2553005"/>
          </a:xfrm>
          <a:prstGeom prst="rect">
            <a:avLst/>
          </a:prstGeom>
        </p:spPr>
      </p:pic>
      <p:sp>
        <p:nvSpPr>
          <p:cNvPr id="60" name="Shape 46"/>
          <p:cNvSpPr/>
          <p:nvPr/>
        </p:nvSpPr>
        <p:spPr>
          <a:xfrm>
            <a:off x="6409944" y="4659782"/>
            <a:ext cx="51050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47"/>
          <p:cNvSpPr/>
          <p:nvPr/>
        </p:nvSpPr>
        <p:spPr>
          <a:xfrm>
            <a:off x="6409944" y="4202582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39FF14">
              <a:alpha val="15000"/>
            </a:srgbClr>
          </a:solidFill>
          <a:ln w="12700">
            <a:solidFill>
              <a:srgbClr val="39FF1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15"/>
          <a:srcRect l="-760" r="-760"/>
          <a:stretch/>
        </p:blipFill>
        <p:spPr>
          <a:xfrm>
            <a:off x="6505956" y="4288536"/>
            <a:ext cx="152705" cy="171907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6867144" y="4245559"/>
            <a:ext cx="991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Branching</a:t>
            </a:r>
            <a:endParaRPr lang="en-US" sz="1300" dirty="0"/>
          </a:p>
        </p:txBody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409944" y="4821631"/>
            <a:ext cx="5105095" cy="1533449"/>
          </a:xfrm>
          <a:prstGeom prst="rect">
            <a:avLst/>
          </a:prstGeom>
        </p:spPr>
      </p:pic>
      <p:sp>
        <p:nvSpPr>
          <p:cNvPr id="65" name="Text 49"/>
          <p:cNvSpPr txBox="1"/>
          <p:nvPr/>
        </p:nvSpPr>
        <p:spPr>
          <a:xfrm>
            <a:off x="6572707" y="4983480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66" name="Text 50"/>
          <p:cNvSpPr txBox="1"/>
          <p:nvPr/>
        </p:nvSpPr>
        <p:spPr>
          <a:xfrm>
            <a:off x="6747358" y="4983480"/>
            <a:ext cx="1438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</a:t>
            </a: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&lt;name&gt;</a:t>
            </a:r>
            <a:endParaRPr lang="en-US" sz="1000" dirty="0"/>
          </a:p>
        </p:txBody>
      </p:sp>
      <p:sp>
        <p:nvSpPr>
          <p:cNvPr id="67" name="Text 51"/>
          <p:cNvSpPr txBox="1"/>
          <p:nvPr/>
        </p:nvSpPr>
        <p:spPr>
          <a:xfrm>
            <a:off x="10239451" y="4983480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branch</a:t>
            </a:r>
            <a:endParaRPr lang="en-US" sz="900" dirty="0"/>
          </a:p>
        </p:txBody>
      </p:sp>
      <p:sp>
        <p:nvSpPr>
          <p:cNvPr id="68" name="Text 52"/>
          <p:cNvSpPr txBox="1"/>
          <p:nvPr/>
        </p:nvSpPr>
        <p:spPr>
          <a:xfrm>
            <a:off x="6572707" y="5278831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69" name="Text 53"/>
          <p:cNvSpPr txBox="1"/>
          <p:nvPr/>
        </p:nvSpPr>
        <p:spPr>
          <a:xfrm>
            <a:off x="6747358" y="5278831"/>
            <a:ext cx="1600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</a:t>
            </a: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&lt;name&gt;</a:t>
            </a:r>
            <a:endParaRPr lang="en-US" sz="1000" dirty="0"/>
          </a:p>
        </p:txBody>
      </p:sp>
      <p:sp>
        <p:nvSpPr>
          <p:cNvPr id="70" name="Text 54"/>
          <p:cNvSpPr txBox="1"/>
          <p:nvPr/>
        </p:nvSpPr>
        <p:spPr>
          <a:xfrm>
            <a:off x="10239451" y="5278831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Switch branch</a:t>
            </a:r>
            <a:endParaRPr lang="en-US" sz="900" dirty="0"/>
          </a:p>
        </p:txBody>
      </p:sp>
      <p:sp>
        <p:nvSpPr>
          <p:cNvPr id="71" name="Text 55"/>
          <p:cNvSpPr txBox="1"/>
          <p:nvPr/>
        </p:nvSpPr>
        <p:spPr>
          <a:xfrm>
            <a:off x="6572707" y="5574182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72" name="Text 56"/>
          <p:cNvSpPr txBox="1"/>
          <p:nvPr/>
        </p:nvSpPr>
        <p:spPr>
          <a:xfrm>
            <a:off x="6747358" y="5574182"/>
            <a:ext cx="13624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</a:t>
            </a: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&lt;name&gt;</a:t>
            </a:r>
            <a:endParaRPr lang="en-US" sz="1000" dirty="0"/>
          </a:p>
        </p:txBody>
      </p:sp>
      <p:sp>
        <p:nvSpPr>
          <p:cNvPr id="73" name="Text 57"/>
          <p:cNvSpPr txBox="1"/>
          <p:nvPr/>
        </p:nvSpPr>
        <p:spPr>
          <a:xfrm>
            <a:off x="10016338" y="5574182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Combine branches</a:t>
            </a:r>
            <a:endParaRPr lang="en-US" sz="900" dirty="0"/>
          </a:p>
        </p:txBody>
      </p:sp>
      <p:sp>
        <p:nvSpPr>
          <p:cNvPr id="74" name="Shape 58"/>
          <p:cNvSpPr/>
          <p:nvPr/>
        </p:nvSpPr>
        <p:spPr>
          <a:xfrm>
            <a:off x="6572707" y="5907024"/>
            <a:ext cx="4781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9"/>
          <p:cNvSpPr txBox="1"/>
          <p:nvPr/>
        </p:nvSpPr>
        <p:spPr>
          <a:xfrm>
            <a:off x="6572707" y="5992978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76" name="Text 60"/>
          <p:cNvSpPr txBox="1"/>
          <p:nvPr/>
        </p:nvSpPr>
        <p:spPr>
          <a:xfrm>
            <a:off x="6747358" y="5992978"/>
            <a:ext cx="1686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</a:t>
            </a: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&lt;name&gt;</a:t>
            </a:r>
            <a:endParaRPr lang="en-US" sz="1000" dirty="0"/>
          </a:p>
        </p:txBody>
      </p:sp>
      <p:sp>
        <p:nvSpPr>
          <p:cNvPr id="77" name="Text 61"/>
          <p:cNvSpPr txBox="1"/>
          <p:nvPr/>
        </p:nvSpPr>
        <p:spPr>
          <a:xfrm>
            <a:off x="9645091" y="5992978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&amp; Switch (New)</a:t>
            </a:r>
            <a:endParaRPr lang="en-US" sz="900" dirty="0"/>
          </a:p>
        </p:txBody>
      </p:sp>
      <p:sp>
        <p:nvSpPr>
          <p:cNvPr id="78" name="Text 62"/>
          <p:cNvSpPr txBox="1"/>
          <p:nvPr/>
        </p:nvSpPr>
        <p:spPr>
          <a:xfrm>
            <a:off x="1654150" y="2926080"/>
            <a:ext cx="1627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-952805" y="-1904695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8382305" y="3524098"/>
            <a:ext cx="4762195" cy="47621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35331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381305"/>
            <a:ext cx="688817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 Guide: TFS → Git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897026"/>
            <a:ext cx="55156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Mindset Shift — From Server-First to Local-First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789920" y="381305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789920" y="381305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20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476402" y="1735531"/>
            <a:ext cx="5429707" cy="361005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71754" y="2830982"/>
            <a:ext cx="48390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771754" y="2083003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3544" y="2235708"/>
            <a:ext cx="267005" cy="2670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33449" y="2097634"/>
            <a:ext cx="1991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TFS Mindset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533449" y="2478024"/>
            <a:ext cx="1991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F59E0B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Server-First Approach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771754" y="3068726"/>
            <a:ext cx="114300" cy="1335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86054" y="3068726"/>
            <a:ext cx="36310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absolute source of truth.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71754" y="3503066"/>
            <a:ext cx="133502" cy="13350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05256" y="3503066"/>
            <a:ext cx="4782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must </a:t>
            </a: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"check out"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(lock) files before editing to prevent conflicts.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771754" y="4181551"/>
            <a:ext cx="171907" cy="13350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42746" y="4181551"/>
            <a:ext cx="46204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operations require an active network connection.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71754" y="4615891"/>
            <a:ext cx="133502" cy="133502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905256" y="4615891"/>
            <a:ext cx="408005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is stored remotely, not on your machine.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6286500" y="1735531"/>
            <a:ext cx="5429707" cy="3610051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6581851" y="2830982"/>
            <a:ext cx="48390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6"/>
          <p:cNvSpPr/>
          <p:nvPr/>
        </p:nvSpPr>
        <p:spPr>
          <a:xfrm>
            <a:off x="6581851" y="2083003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39FF14">
              <a:alpha val="1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700723" y="2235708"/>
            <a:ext cx="333756" cy="267005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343546" y="2097634"/>
            <a:ext cx="18955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Mindset</a:t>
            </a:r>
            <a:endParaRPr lang="en-US" sz="1800" dirty="0"/>
          </a:p>
        </p:txBody>
      </p:sp>
      <p:sp>
        <p:nvSpPr>
          <p:cNvPr id="30" name="Text 18"/>
          <p:cNvSpPr txBox="1"/>
          <p:nvPr/>
        </p:nvSpPr>
        <p:spPr>
          <a:xfrm>
            <a:off x="7343546" y="2478024"/>
            <a:ext cx="18955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39FF14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Local-First Approach</a:t>
            </a:r>
            <a:endParaRPr lang="en-US" sz="10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581851" y="3068726"/>
            <a:ext cx="133502" cy="133502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715354" y="3068726"/>
            <a:ext cx="4734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</a:t>
            </a: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Machine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source of truth for your work.</a:t>
            </a:r>
            <a:endParaRPr lang="en-US" sz="12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581851" y="3503066"/>
            <a:ext cx="133502" cy="133502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6715354" y="3503066"/>
            <a:ext cx="45244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</a:t>
            </a: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freely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without asking permission. No file locking.</a:t>
            </a:r>
            <a:endParaRPr lang="en-US" sz="12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5"/>
          <a:srcRect l="-837" r="-837"/>
          <a:stretch/>
        </p:blipFill>
        <p:spPr>
          <a:xfrm>
            <a:off x="6581851" y="3937406"/>
            <a:ext cx="152705" cy="133502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6734556" y="3937406"/>
            <a:ext cx="364205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locally, branch, and merge </a:t>
            </a: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6"/>
          <a:srcRect l="-1507" r="-1507"/>
          <a:stretch/>
        </p:blipFill>
        <p:spPr>
          <a:xfrm>
            <a:off x="6581851" y="4371746"/>
            <a:ext cx="171907" cy="133502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6752844" y="4371746"/>
            <a:ext cx="44851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to the server only when you are ready to share.</a:t>
            </a:r>
            <a:endParaRPr lang="en-US" sz="1200" dirty="0"/>
          </a:p>
        </p:txBody>
      </p:sp>
      <p:sp>
        <p:nvSpPr>
          <p:cNvPr id="39" name="Shape 23"/>
          <p:cNvSpPr/>
          <p:nvPr/>
        </p:nvSpPr>
        <p:spPr>
          <a:xfrm>
            <a:off x="476402" y="5725973"/>
            <a:ext cx="11239805" cy="800100"/>
          </a:xfrm>
          <a:prstGeom prst="roundRect">
            <a:avLst>
              <a:gd name="adj" fmla="val 326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24"/>
          <p:cNvSpPr txBox="1"/>
          <p:nvPr/>
        </p:nvSpPr>
        <p:spPr>
          <a:xfrm>
            <a:off x="2430475" y="5725973"/>
            <a:ext cx="117226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Translation:</a:t>
            </a:r>
            <a:endParaRPr lang="en-US" sz="10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7"/>
          <a:srcRect l="-4247" r="-4247"/>
          <a:stretch/>
        </p:blipFill>
        <p:spPr>
          <a:xfrm>
            <a:off x="2173529" y="6061558"/>
            <a:ext cx="181051" cy="133502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3918204" y="6025896"/>
            <a:ext cx="9409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TFS you...</a:t>
            </a:r>
            <a:endParaRPr lang="en-US" sz="10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8"/>
          <a:srcRect l="-64" r="-64"/>
          <a:stretch/>
        </p:blipFill>
        <p:spPr>
          <a:xfrm>
            <a:off x="4847234" y="5926226"/>
            <a:ext cx="2066544" cy="400507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4847234" y="5926226"/>
            <a:ext cx="21433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 / Check-in</a:t>
            </a:r>
            <a:endParaRPr lang="en-US" sz="120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9"/>
          <a:srcRect l="-1648" r="-1648"/>
          <a:stretch/>
        </p:blipFill>
        <p:spPr>
          <a:xfrm>
            <a:off x="7194499" y="6031382"/>
            <a:ext cx="171907" cy="190195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7651699" y="6025896"/>
            <a:ext cx="8503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Git you...</a:t>
            </a:r>
            <a:endParaRPr lang="en-US" sz="1000" dirty="0"/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20"/>
          <a:srcRect t="-11" b="-11"/>
          <a:stretch/>
        </p:blipFill>
        <p:spPr>
          <a:xfrm>
            <a:off x="8505749" y="5926226"/>
            <a:ext cx="1514246" cy="400507"/>
          </a:xfrm>
          <a:prstGeom prst="rect">
            <a:avLst/>
          </a:prstGeom>
        </p:spPr>
      </p:pic>
      <p:sp>
        <p:nvSpPr>
          <p:cNvPr id="48" name="Text 28"/>
          <p:cNvSpPr txBox="1"/>
          <p:nvPr/>
        </p:nvSpPr>
        <p:spPr>
          <a:xfrm>
            <a:off x="8505749" y="5926226"/>
            <a:ext cx="157551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/ Push</a:t>
            </a:r>
            <a:endParaRPr lang="en-US" sz="1200" dirty="0"/>
          </a:p>
        </p:txBody>
      </p:sp>
      <p:sp>
        <p:nvSpPr>
          <p:cNvPr id="49" name="Shape 29"/>
          <p:cNvSpPr/>
          <p:nvPr/>
        </p:nvSpPr>
        <p:spPr>
          <a:xfrm>
            <a:off x="5905195" y="3349447"/>
            <a:ext cx="381305" cy="381305"/>
          </a:xfrm>
          <a:prstGeom prst="ellipse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30"/>
          <p:cNvSpPr/>
          <p:nvPr/>
        </p:nvSpPr>
        <p:spPr>
          <a:xfrm>
            <a:off x="5876849" y="3349447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8382305" y="-1429207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4000500"/>
            <a:ext cx="3810305" cy="3810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35331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381305"/>
            <a:ext cx="688817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TFS Actions vs Git Commands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897026"/>
            <a:ext cx="6067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Side-by-Side Command Mapping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789920" y="381305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789920" y="381305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20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76402" y="1735531"/>
            <a:ext cx="11239805" cy="474390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5546" y="1744675"/>
            <a:ext cx="11220602" cy="590702"/>
          </a:xfrm>
          <a:prstGeom prst="roundRect">
            <a:avLst>
              <a:gd name="adj" fmla="val 79896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485546" y="2316175"/>
            <a:ext cx="11220602" cy="19202"/>
          </a:xfrm>
          <a:prstGeom prst="roundRect">
            <a:avLst>
              <a:gd name="adj" fmla="val 2457808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1073506" y="1744675"/>
            <a:ext cx="454639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TFS Action 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6119165" y="1744675"/>
            <a:ext cx="5664708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 Equivalent 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85546" y="2945282"/>
            <a:ext cx="50575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771754" y="2531059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/ Map Workspace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534863" y="2945282"/>
            <a:ext cx="6172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5821070" y="2497226"/>
            <a:ext cx="57150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5546" y="3550615"/>
            <a:ext cx="50575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771754" y="3140050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Latest Version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534863" y="3550615"/>
            <a:ext cx="6172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5821070" y="3107131"/>
            <a:ext cx="57150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5546" y="4093769"/>
            <a:ext cx="50575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771754" y="3717036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 </a:t>
            </a: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(lock file)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534863" y="4093769"/>
            <a:ext cx="6172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5821070" y="371703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command — </a:t>
            </a:r>
            <a:r>
              <a:rPr lang="en-US" sz="12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edit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5546" y="4702759"/>
            <a:ext cx="50575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771754" y="4293108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 </a:t>
            </a: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(commit to server)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5534863" y="4702759"/>
            <a:ext cx="6172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 txBox="1"/>
          <p:nvPr/>
        </p:nvSpPr>
        <p:spPr>
          <a:xfrm>
            <a:off x="5821070" y="4259275"/>
            <a:ext cx="57150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5546" y="5312664"/>
            <a:ext cx="50575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 txBox="1"/>
          <p:nvPr/>
        </p:nvSpPr>
        <p:spPr>
          <a:xfrm>
            <a:off x="771754" y="4902098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Shelve / Unshelve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5534863" y="5312664"/>
            <a:ext cx="6172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5821070" y="4869180"/>
            <a:ext cx="57150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apply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85546" y="5922569"/>
            <a:ext cx="50575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 txBox="1"/>
          <p:nvPr/>
        </p:nvSpPr>
        <p:spPr>
          <a:xfrm>
            <a:off x="771754" y="5512003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5534863" y="5922569"/>
            <a:ext cx="6172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 txBox="1"/>
          <p:nvPr/>
        </p:nvSpPr>
        <p:spPr>
          <a:xfrm>
            <a:off x="5821070" y="5479085"/>
            <a:ext cx="57150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</a:t>
            </a:r>
            <a:r>
              <a:rPr lang="en-US" sz="10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</a:t>
            </a: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771754" y="6088075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Code Review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6030468" y="6088075"/>
            <a:ext cx="5505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Request (PR)</a:t>
            </a:r>
            <a:endParaRPr lang="en-US" sz="12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rcRect l="-3799" r="-3799"/>
          <a:stretch/>
        </p:blipFill>
        <p:spPr>
          <a:xfrm>
            <a:off x="771754" y="1937614"/>
            <a:ext cx="161849" cy="171907"/>
          </a:xfrm>
          <a:prstGeom prst="rect">
            <a:avLst/>
          </a:prstGeom>
        </p:spPr>
      </p:pic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rcRect l="-3799" r="-3799"/>
          <a:stretch/>
        </p:blipFill>
        <p:spPr>
          <a:xfrm>
            <a:off x="5821070" y="1937614"/>
            <a:ext cx="161849" cy="171907"/>
          </a:xfrm>
          <a:prstGeom prst="rect">
            <a:avLst/>
          </a:prstGeom>
        </p:spPr>
      </p:pic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821070" y="6126480"/>
            <a:ext cx="152705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-952805" y="-1904695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9334195" y="4000500"/>
            <a:ext cx="3810305" cy="3810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35331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381305"/>
            <a:ext cx="6391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Differences Deep Dive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897026"/>
            <a:ext cx="53538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Git Feels Different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789920" y="381305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789920" y="381305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6402" y="1640434"/>
            <a:ext cx="5505602" cy="2352751"/>
          </a:xfrm>
          <a:prstGeom prst="roundRect">
            <a:avLst>
              <a:gd name="adj" fmla="val 377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14146" y="2241194"/>
            <a:ext cx="5029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14146" y="184068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780898" y="1916582"/>
            <a:ext cx="171907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33856" y="1864462"/>
            <a:ext cx="13716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Checkout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86054" y="2402129"/>
            <a:ext cx="21863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TFS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714146" y="2430475"/>
            <a:ext cx="114300" cy="1143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14146" y="2649931"/>
            <a:ext cx="2266798" cy="1143000"/>
          </a:xfrm>
          <a:prstGeom prst="roundRect">
            <a:avLst>
              <a:gd name="adj" fmla="val 106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1016813" y="2834640"/>
            <a:ext cx="1922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Exclusive Lock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838505" y="3087014"/>
            <a:ext cx="20958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are read-only until you "check out". Often blocks others from editing.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3172054" y="3030322"/>
            <a:ext cx="114300" cy="1335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648456" y="2402129"/>
            <a:ext cx="21863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00B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3476549" y="2430475"/>
            <a:ext cx="114300" cy="1143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476549" y="2649931"/>
            <a:ext cx="2266798" cy="1143000"/>
          </a:xfrm>
          <a:prstGeom prst="roundRect">
            <a:avLst>
              <a:gd name="adj" fmla="val 10667"/>
            </a:avLst>
          </a:prstGeom>
          <a:solidFill>
            <a:srgbClr val="00B4FF">
              <a:alpha val="5000"/>
            </a:srgbClr>
          </a:solidFill>
          <a:ln w="12700">
            <a:solidFill>
              <a:srgbClr val="00B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 txBox="1"/>
          <p:nvPr/>
        </p:nvSpPr>
        <p:spPr>
          <a:xfrm>
            <a:off x="3789274" y="2834640"/>
            <a:ext cx="1912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Optimistic Editing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3600907" y="3087014"/>
            <a:ext cx="20958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locks. Edit any file instantly. Conflicts are resolved during merge.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6210605" y="1640434"/>
            <a:ext cx="5505602" cy="2352751"/>
          </a:xfrm>
          <a:prstGeom prst="roundRect">
            <a:avLst>
              <a:gd name="adj" fmla="val 377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6448349" y="2241194"/>
            <a:ext cx="5029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6448349" y="184068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6534302" y="1916582"/>
            <a:ext cx="133502" cy="15270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67144" y="1864462"/>
            <a:ext cx="110276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Committing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6620256" y="2402129"/>
            <a:ext cx="21863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TFS</a:t>
            </a:r>
            <a:endParaRPr lang="en-US" sz="9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6448349" y="2430475"/>
            <a:ext cx="114300" cy="11430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448349" y="2649931"/>
            <a:ext cx="2266798" cy="1143000"/>
          </a:xfrm>
          <a:prstGeom prst="roundRect">
            <a:avLst>
              <a:gd name="adj" fmla="val 106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5"/>
          <p:cNvSpPr txBox="1"/>
          <p:nvPr/>
        </p:nvSpPr>
        <p:spPr>
          <a:xfrm>
            <a:off x="6572707" y="2921508"/>
            <a:ext cx="21003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Step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6572707" y="3173882"/>
            <a:ext cx="2095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"Check-in" sends code directly to the server immediately.</a:t>
            </a:r>
            <a:endParaRPr lang="en-US" sz="9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8906256" y="3030322"/>
            <a:ext cx="114300" cy="13350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382658" y="2402129"/>
            <a:ext cx="21863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00B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</a:t>
            </a:r>
            <a:endParaRPr lang="en-US" sz="9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9210751" y="2430475"/>
            <a:ext cx="114300" cy="114300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9210751" y="2649931"/>
            <a:ext cx="2266798" cy="1143000"/>
          </a:xfrm>
          <a:prstGeom prst="roundRect">
            <a:avLst>
              <a:gd name="adj" fmla="val 10667"/>
            </a:avLst>
          </a:prstGeom>
          <a:solidFill>
            <a:srgbClr val="00B4FF">
              <a:alpha val="5000"/>
            </a:srgbClr>
          </a:solidFill>
          <a:ln w="12700">
            <a:solidFill>
              <a:srgbClr val="00B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9"/>
          <p:cNvSpPr txBox="1"/>
          <p:nvPr/>
        </p:nvSpPr>
        <p:spPr>
          <a:xfrm>
            <a:off x="9334195" y="2921508"/>
            <a:ext cx="21003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Steps</a:t>
            </a:r>
            <a:endParaRPr lang="en-US" sz="1100" dirty="0"/>
          </a:p>
        </p:txBody>
      </p:sp>
      <p:sp>
        <p:nvSpPr>
          <p:cNvPr id="42" name="Text 30"/>
          <p:cNvSpPr txBox="1"/>
          <p:nvPr/>
        </p:nvSpPr>
        <p:spPr>
          <a:xfrm>
            <a:off x="9334195" y="3173882"/>
            <a:ext cx="2095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</a:t>
            </a: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(Save Local)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</a:t>
            </a: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(Upload to Server)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476402" y="4220870"/>
            <a:ext cx="5505602" cy="2352751"/>
          </a:xfrm>
          <a:prstGeom prst="roundRect">
            <a:avLst>
              <a:gd name="adj" fmla="val 377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2"/>
          <p:cNvSpPr/>
          <p:nvPr/>
        </p:nvSpPr>
        <p:spPr>
          <a:xfrm>
            <a:off x="714146" y="4820717"/>
            <a:ext cx="5029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3"/>
          <p:cNvSpPr/>
          <p:nvPr/>
        </p:nvSpPr>
        <p:spPr>
          <a:xfrm>
            <a:off x="714146" y="4420210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90956" y="4497019"/>
            <a:ext cx="152705" cy="15270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1133856" y="4443984"/>
            <a:ext cx="20976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Shelving vs Stashing</a:t>
            </a:r>
            <a:endParaRPr lang="en-US" sz="1300" dirty="0"/>
          </a:p>
        </p:txBody>
      </p:sp>
      <p:sp>
        <p:nvSpPr>
          <p:cNvPr id="48" name="Text 35"/>
          <p:cNvSpPr txBox="1"/>
          <p:nvPr/>
        </p:nvSpPr>
        <p:spPr>
          <a:xfrm>
            <a:off x="886054" y="4982566"/>
            <a:ext cx="21863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TFS</a:t>
            </a:r>
            <a:endParaRPr lang="en-US" sz="9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714146" y="5010912"/>
            <a:ext cx="114300" cy="114300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714146" y="5230368"/>
            <a:ext cx="2266798" cy="1143000"/>
          </a:xfrm>
          <a:prstGeom prst="roundRect">
            <a:avLst>
              <a:gd name="adj" fmla="val 106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7"/>
          <p:cNvSpPr txBox="1"/>
          <p:nvPr/>
        </p:nvSpPr>
        <p:spPr>
          <a:xfrm>
            <a:off x="838505" y="5415077"/>
            <a:ext cx="21003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Shelvesets</a:t>
            </a:r>
            <a:endParaRPr lang="en-US" sz="1100" dirty="0"/>
          </a:p>
        </p:txBody>
      </p:sp>
      <p:sp>
        <p:nvSpPr>
          <p:cNvPr id="52" name="Text 38"/>
          <p:cNvSpPr txBox="1"/>
          <p:nvPr/>
        </p:nvSpPr>
        <p:spPr>
          <a:xfrm>
            <a:off x="838505" y="5667451"/>
            <a:ext cx="20958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 on the </a:t>
            </a: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Heavier process, meant for code review or backup.</a:t>
            </a:r>
            <a:endParaRPr lang="en-US" sz="90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3172054" y="5610758"/>
            <a:ext cx="114300" cy="133502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3648456" y="4982566"/>
            <a:ext cx="21863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00B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</a:t>
            </a:r>
            <a:endParaRPr lang="en-US" sz="900" dirty="0"/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3476549" y="5010912"/>
            <a:ext cx="114300" cy="114300"/>
          </a:xfrm>
          <a:prstGeom prst="rect">
            <a:avLst/>
          </a:prstGeom>
        </p:spPr>
      </p:pic>
      <p:sp>
        <p:nvSpPr>
          <p:cNvPr id="56" name="Shape 40"/>
          <p:cNvSpPr/>
          <p:nvPr/>
        </p:nvSpPr>
        <p:spPr>
          <a:xfrm>
            <a:off x="3476549" y="5230368"/>
            <a:ext cx="2266798" cy="1143000"/>
          </a:xfrm>
          <a:prstGeom prst="roundRect">
            <a:avLst>
              <a:gd name="adj" fmla="val 10667"/>
            </a:avLst>
          </a:prstGeom>
          <a:solidFill>
            <a:srgbClr val="00B4FF">
              <a:alpha val="5000"/>
            </a:srgbClr>
          </a:solidFill>
          <a:ln w="12700">
            <a:solidFill>
              <a:srgbClr val="00B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1"/>
          <p:cNvSpPr txBox="1"/>
          <p:nvPr/>
        </p:nvSpPr>
        <p:spPr>
          <a:xfrm>
            <a:off x="3600907" y="5501945"/>
            <a:ext cx="21003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Stashing</a:t>
            </a:r>
            <a:endParaRPr lang="en-US" sz="1100" dirty="0"/>
          </a:p>
        </p:txBody>
      </p:sp>
      <p:sp>
        <p:nvSpPr>
          <p:cNvPr id="58" name="Text 42"/>
          <p:cNvSpPr txBox="1"/>
          <p:nvPr/>
        </p:nvSpPr>
        <p:spPr>
          <a:xfrm>
            <a:off x="3600907" y="5754319"/>
            <a:ext cx="2095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 on </a:t>
            </a: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Stack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Instant context switching. </a:t>
            </a: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</a:t>
            </a:r>
            <a:endParaRPr lang="en-US" sz="900" dirty="0"/>
          </a:p>
        </p:txBody>
      </p:sp>
      <p:sp>
        <p:nvSpPr>
          <p:cNvPr id="59" name="Shape 43"/>
          <p:cNvSpPr/>
          <p:nvPr/>
        </p:nvSpPr>
        <p:spPr>
          <a:xfrm>
            <a:off x="6210605" y="4220870"/>
            <a:ext cx="5505602" cy="2352751"/>
          </a:xfrm>
          <a:prstGeom prst="roundRect">
            <a:avLst>
              <a:gd name="adj" fmla="val 377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44"/>
          <p:cNvSpPr/>
          <p:nvPr/>
        </p:nvSpPr>
        <p:spPr>
          <a:xfrm>
            <a:off x="6448349" y="4820717"/>
            <a:ext cx="5029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45"/>
          <p:cNvSpPr/>
          <p:nvPr/>
        </p:nvSpPr>
        <p:spPr>
          <a:xfrm>
            <a:off x="6448349" y="4420210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6505956" y="4497019"/>
            <a:ext cx="190195" cy="152705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6867144" y="4443984"/>
            <a:ext cx="13496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Ignoring Files</a:t>
            </a:r>
            <a:endParaRPr lang="en-US" sz="1300" dirty="0"/>
          </a:p>
        </p:txBody>
      </p:sp>
      <p:sp>
        <p:nvSpPr>
          <p:cNvPr id="64" name="Text 47"/>
          <p:cNvSpPr txBox="1"/>
          <p:nvPr/>
        </p:nvSpPr>
        <p:spPr>
          <a:xfrm>
            <a:off x="6620256" y="4982566"/>
            <a:ext cx="21863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TFS</a:t>
            </a:r>
            <a:endParaRPr lang="en-US" sz="900" dirty="0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6448349" y="5010912"/>
            <a:ext cx="114300" cy="114300"/>
          </a:xfrm>
          <a:prstGeom prst="rect">
            <a:avLst/>
          </a:prstGeom>
        </p:spPr>
      </p:pic>
      <p:sp>
        <p:nvSpPr>
          <p:cNvPr id="66" name="Shape 48"/>
          <p:cNvSpPr/>
          <p:nvPr/>
        </p:nvSpPr>
        <p:spPr>
          <a:xfrm>
            <a:off x="6448349" y="5230368"/>
            <a:ext cx="2266798" cy="1143000"/>
          </a:xfrm>
          <a:prstGeom prst="roundRect">
            <a:avLst>
              <a:gd name="adj" fmla="val 1066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49"/>
          <p:cNvSpPr txBox="1"/>
          <p:nvPr/>
        </p:nvSpPr>
        <p:spPr>
          <a:xfrm>
            <a:off x="6572707" y="5501945"/>
            <a:ext cx="21003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/ .tfignore</a:t>
            </a:r>
            <a:endParaRPr lang="en-US" sz="1100" dirty="0"/>
          </a:p>
        </p:txBody>
      </p:sp>
      <p:sp>
        <p:nvSpPr>
          <p:cNvPr id="68" name="Text 50"/>
          <p:cNvSpPr txBox="1"/>
          <p:nvPr/>
        </p:nvSpPr>
        <p:spPr>
          <a:xfrm>
            <a:off x="6572707" y="5754319"/>
            <a:ext cx="2095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Often relies on GUI settings. Easy to accidentally commit binaries.</a:t>
            </a:r>
            <a:endParaRPr lang="en-US" sz="900" dirty="0"/>
          </a:p>
        </p:txBody>
      </p:sp>
      <p:pic>
        <p:nvPicPr>
          <p:cNvPr id="69" name="Image 16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8906256" y="5610758"/>
            <a:ext cx="114300" cy="133502"/>
          </a:xfrm>
          <a:prstGeom prst="rect">
            <a:avLst/>
          </a:prstGeom>
        </p:spPr>
      </p:pic>
      <p:sp>
        <p:nvSpPr>
          <p:cNvPr id="70" name="Text 51"/>
          <p:cNvSpPr txBox="1"/>
          <p:nvPr/>
        </p:nvSpPr>
        <p:spPr>
          <a:xfrm>
            <a:off x="9382658" y="4982566"/>
            <a:ext cx="21863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00B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</a:t>
            </a:r>
            <a:endParaRPr lang="en-US" sz="900" dirty="0"/>
          </a:p>
        </p:txBody>
      </p:sp>
      <p:pic>
        <p:nvPicPr>
          <p:cNvPr id="71" name="Image 17" descr="preencoded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9210751" y="5010912"/>
            <a:ext cx="114300" cy="114300"/>
          </a:xfrm>
          <a:prstGeom prst="rect">
            <a:avLst/>
          </a:prstGeom>
        </p:spPr>
      </p:pic>
      <p:sp>
        <p:nvSpPr>
          <p:cNvPr id="72" name="Shape 52"/>
          <p:cNvSpPr/>
          <p:nvPr/>
        </p:nvSpPr>
        <p:spPr>
          <a:xfrm>
            <a:off x="9210751" y="5230368"/>
            <a:ext cx="2266798" cy="1143000"/>
          </a:xfrm>
          <a:prstGeom prst="roundRect">
            <a:avLst>
              <a:gd name="adj" fmla="val 10667"/>
            </a:avLst>
          </a:prstGeom>
          <a:solidFill>
            <a:srgbClr val="00B4FF">
              <a:alpha val="5000"/>
            </a:srgbClr>
          </a:solidFill>
          <a:ln w="12700">
            <a:solidFill>
              <a:srgbClr val="00B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53"/>
          <p:cNvSpPr txBox="1"/>
          <p:nvPr/>
        </p:nvSpPr>
        <p:spPr>
          <a:xfrm>
            <a:off x="9334195" y="5501945"/>
            <a:ext cx="21003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.gitignore</a:t>
            </a:r>
            <a:endParaRPr lang="en-US" sz="1100" dirty="0"/>
          </a:p>
        </p:txBody>
      </p:sp>
      <p:sp>
        <p:nvSpPr>
          <p:cNvPr id="74" name="Text 54"/>
          <p:cNvSpPr txBox="1"/>
          <p:nvPr/>
        </p:nvSpPr>
        <p:spPr>
          <a:xfrm>
            <a:off x="9334195" y="5754319"/>
            <a:ext cx="2095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text file. Explicitly blocks </a:t>
            </a: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obj/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</p:txBody>
      </p:sp>
      <p:pic>
        <p:nvPicPr>
          <p:cNvPr id="75" name="Image 18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838505" y="2886761"/>
            <a:ext cx="105156" cy="114300"/>
          </a:xfrm>
          <a:prstGeom prst="rect">
            <a:avLst/>
          </a:prstGeom>
        </p:spPr>
      </p:pic>
      <p:pic>
        <p:nvPicPr>
          <p:cNvPr id="76" name="Image 1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600907" y="2886761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8858707" y="-952805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4476902"/>
            <a:ext cx="3810305" cy="3810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35331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381305"/>
            <a:ext cx="490392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Branching &amp; Merging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897026"/>
            <a:ext cx="42483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Branching is Git's Superpower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789920" y="381305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789920" y="381305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6402" y="1735531"/>
            <a:ext cx="5057546" cy="1009498"/>
          </a:xfrm>
          <a:prstGeom prst="roundRect">
            <a:avLst>
              <a:gd name="adj" fmla="val 2050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6656" y="2047342"/>
            <a:ext cx="381305" cy="3813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7395" y="2047342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476756" y="1935785"/>
            <a:ext cx="3972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Branch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48156" y="1973275"/>
            <a:ext cx="152705" cy="15270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76402" y="2969057"/>
            <a:ext cx="5057546" cy="1009498"/>
          </a:xfrm>
          <a:prstGeom prst="roundRect">
            <a:avLst>
              <a:gd name="adj" fmla="val 2050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6656" y="3280867"/>
            <a:ext cx="381305" cy="3813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7395" y="3280867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1476756" y="3169310"/>
            <a:ext cx="3972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Switch Context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48156" y="3206801"/>
            <a:ext cx="152705" cy="152705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76402" y="4202582"/>
            <a:ext cx="5057546" cy="1009498"/>
          </a:xfrm>
          <a:prstGeom prst="roundRect">
            <a:avLst>
              <a:gd name="adj" fmla="val 2050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6656" y="4514393"/>
            <a:ext cx="381305" cy="38130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47395" y="4514393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1457554" y="4402836"/>
            <a:ext cx="3991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Merge Changes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1248156" y="4440326"/>
            <a:ext cx="133502" cy="152705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1248156" y="2221078"/>
            <a:ext cx="2038198" cy="323698"/>
          </a:xfrm>
          <a:prstGeom prst="roundRect">
            <a:avLst>
              <a:gd name="adj" fmla="val 99701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7"/>
          <p:cNvSpPr txBox="1"/>
          <p:nvPr/>
        </p:nvSpPr>
        <p:spPr>
          <a:xfrm>
            <a:off x="1248156" y="2221078"/>
            <a:ext cx="21150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feature-login</a:t>
            </a:r>
            <a:endParaRPr lang="en-US" sz="900" dirty="0"/>
          </a:p>
        </p:txBody>
      </p:sp>
      <p:sp>
        <p:nvSpPr>
          <p:cNvPr id="28" name="Shape 18"/>
          <p:cNvSpPr/>
          <p:nvPr/>
        </p:nvSpPr>
        <p:spPr>
          <a:xfrm>
            <a:off x="1248156" y="3454603"/>
            <a:ext cx="2180844" cy="323698"/>
          </a:xfrm>
          <a:prstGeom prst="roundRect">
            <a:avLst>
              <a:gd name="adj" fmla="val 99701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9"/>
          <p:cNvSpPr txBox="1"/>
          <p:nvPr/>
        </p:nvSpPr>
        <p:spPr>
          <a:xfrm>
            <a:off x="1248156" y="3454603"/>
            <a:ext cx="22576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feature-login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1248156" y="4688129"/>
            <a:ext cx="1962302" cy="323698"/>
          </a:xfrm>
          <a:prstGeom prst="roundRect">
            <a:avLst>
              <a:gd name="adj" fmla="val 99701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1"/>
          <p:cNvSpPr txBox="1"/>
          <p:nvPr/>
        </p:nvSpPr>
        <p:spPr>
          <a:xfrm>
            <a:off x="1248156" y="4688129"/>
            <a:ext cx="20391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feature-login</a:t>
            </a:r>
            <a:endParaRPr lang="en-US" sz="9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rcRect t="-18" b="-18"/>
          <a:stretch/>
        </p:blipFill>
        <p:spPr>
          <a:xfrm>
            <a:off x="476402" y="5626303"/>
            <a:ext cx="5057546" cy="952805"/>
          </a:xfrm>
          <a:prstGeom prst="rect">
            <a:avLst/>
          </a:prstGeom>
        </p:spPr>
      </p:pic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 l="-17" r="-17"/>
          <a:stretch/>
        </p:blipFill>
        <p:spPr>
          <a:xfrm>
            <a:off x="609905" y="5721401"/>
            <a:ext cx="333756" cy="381305"/>
          </a:xfrm>
          <a:prstGeom prst="rect">
            <a:avLst/>
          </a:prstGeom>
        </p:spPr>
      </p:pic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1"/>
          <a:srcRect t="-2" b="-2"/>
          <a:stretch/>
        </p:blipFill>
        <p:spPr>
          <a:xfrm>
            <a:off x="5915254" y="2252167"/>
            <a:ext cx="5800954" cy="3810305"/>
          </a:xfrm>
          <a:prstGeom prst="rect">
            <a:avLst/>
          </a:prstGeom>
        </p:spPr>
      </p:pic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2"/>
          <a:srcRect l="-25" r="-25"/>
          <a:stretch/>
        </p:blipFill>
        <p:spPr>
          <a:xfrm>
            <a:off x="8131759" y="3681374"/>
            <a:ext cx="404165" cy="952805"/>
          </a:xfrm>
          <a:prstGeom prst="rect">
            <a:avLst/>
          </a:prstGeom>
        </p:spPr>
      </p:pic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2"/>
          <a:srcRect l="-25" r="-25"/>
          <a:stretch/>
        </p:blipFill>
        <p:spPr>
          <a:xfrm>
            <a:off x="10169957" y="3681374"/>
            <a:ext cx="404165" cy="952805"/>
          </a:xfrm>
          <a:prstGeom prst="rect">
            <a:avLst/>
          </a:prstGeom>
        </p:spPr>
      </p:pic>
      <p:sp>
        <p:nvSpPr>
          <p:cNvPr id="37" name="Shape 22"/>
          <p:cNvSpPr/>
          <p:nvPr/>
        </p:nvSpPr>
        <p:spPr>
          <a:xfrm>
            <a:off x="6529730" y="4414723"/>
            <a:ext cx="428854" cy="247802"/>
          </a:xfrm>
          <a:prstGeom prst="roundRect">
            <a:avLst>
              <a:gd name="adj" fmla="val 113540"/>
            </a:avLst>
          </a:prstGeom>
          <a:solidFill>
            <a:srgbClr val="00B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3"/>
          <p:cNvSpPr txBox="1"/>
          <p:nvPr/>
        </p:nvSpPr>
        <p:spPr>
          <a:xfrm>
            <a:off x="6529730" y="4414723"/>
            <a:ext cx="4864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900" dirty="0"/>
          </a:p>
        </p:txBody>
      </p:sp>
      <p:sp>
        <p:nvSpPr>
          <p:cNvPr id="39" name="Shape 24"/>
          <p:cNvSpPr/>
          <p:nvPr/>
        </p:nvSpPr>
        <p:spPr>
          <a:xfrm>
            <a:off x="8291779" y="3395167"/>
            <a:ext cx="1047902" cy="247802"/>
          </a:xfrm>
          <a:prstGeom prst="roundRect">
            <a:avLst>
              <a:gd name="adj" fmla="val 113540"/>
            </a:avLst>
          </a:prstGeom>
          <a:solidFill>
            <a:srgbClr val="39FF1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25"/>
          <p:cNvSpPr txBox="1"/>
          <p:nvPr/>
        </p:nvSpPr>
        <p:spPr>
          <a:xfrm>
            <a:off x="8291779" y="3395167"/>
            <a:ext cx="11055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feature-login</a:t>
            </a:r>
            <a:endParaRPr lang="en-US" sz="900" dirty="0"/>
          </a:p>
        </p:txBody>
      </p:sp>
      <p:sp>
        <p:nvSpPr>
          <p:cNvPr id="41" name="Text 26"/>
          <p:cNvSpPr txBox="1"/>
          <p:nvPr/>
        </p:nvSpPr>
        <p:spPr>
          <a:xfrm>
            <a:off x="9642348" y="4919472"/>
            <a:ext cx="905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Commit</a:t>
            </a:r>
            <a:endParaRPr lang="en-US" sz="900" dirty="0"/>
          </a:p>
        </p:txBody>
      </p:sp>
      <p:sp>
        <p:nvSpPr>
          <p:cNvPr id="42" name="Shape 27"/>
          <p:cNvSpPr/>
          <p:nvPr/>
        </p:nvSpPr>
        <p:spPr>
          <a:xfrm>
            <a:off x="9611258" y="5552237"/>
            <a:ext cx="1904695" cy="314554"/>
          </a:xfrm>
          <a:prstGeom prst="roundRect">
            <a:avLst>
              <a:gd name="adj" fmla="val 140944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28"/>
          <p:cNvSpPr/>
          <p:nvPr/>
        </p:nvSpPr>
        <p:spPr>
          <a:xfrm>
            <a:off x="9725558" y="5660136"/>
            <a:ext cx="95098" cy="95098"/>
          </a:xfrm>
          <a:prstGeom prst="ellipse">
            <a:avLst/>
          </a:prstGeom>
          <a:solidFill>
            <a:srgbClr val="00B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9"/>
          <p:cNvSpPr txBox="1"/>
          <p:nvPr/>
        </p:nvSpPr>
        <p:spPr>
          <a:xfrm>
            <a:off x="9877349" y="5629046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800" dirty="0"/>
          </a:p>
        </p:txBody>
      </p:sp>
      <p:sp>
        <p:nvSpPr>
          <p:cNvPr id="45" name="Shape 30"/>
          <p:cNvSpPr/>
          <p:nvPr/>
        </p:nvSpPr>
        <p:spPr>
          <a:xfrm>
            <a:off x="10261397" y="5660136"/>
            <a:ext cx="95098" cy="95098"/>
          </a:xfrm>
          <a:prstGeom prst="ellipse">
            <a:avLst/>
          </a:prstGeom>
          <a:solidFill>
            <a:srgbClr val="39FF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1"/>
          <p:cNvSpPr txBox="1"/>
          <p:nvPr/>
        </p:nvSpPr>
        <p:spPr>
          <a:xfrm>
            <a:off x="10414102" y="5629046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800" dirty="0"/>
          </a:p>
        </p:txBody>
      </p:sp>
      <p:sp>
        <p:nvSpPr>
          <p:cNvPr id="47" name="Shape 32"/>
          <p:cNvSpPr/>
          <p:nvPr/>
        </p:nvSpPr>
        <p:spPr>
          <a:xfrm>
            <a:off x="10929823" y="5660136"/>
            <a:ext cx="95098" cy="9509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3"/>
          <p:cNvSpPr txBox="1"/>
          <p:nvPr/>
        </p:nvSpPr>
        <p:spPr>
          <a:xfrm>
            <a:off x="11082528" y="5629046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</a:t>
            </a:r>
            <a:endParaRPr lang="en-US" sz="800" dirty="0"/>
          </a:p>
        </p:txBody>
      </p:sp>
      <p:sp>
        <p:nvSpPr>
          <p:cNvPr id="49" name="Text 34"/>
          <p:cNvSpPr txBox="1"/>
          <p:nvPr/>
        </p:nvSpPr>
        <p:spPr>
          <a:xfrm>
            <a:off x="705002" y="5816498"/>
            <a:ext cx="47155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"Branches are cheap and lightweight. Create them often, even for small changes."</a:t>
            </a:r>
            <a:endParaRPr lang="en-US" sz="150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3"/>
          <a:srcRect t="-396" b="-396"/>
          <a:stretch/>
        </p:blipFill>
        <p:spPr>
          <a:xfrm>
            <a:off x="6910121" y="4633265"/>
            <a:ext cx="3810305" cy="57607"/>
          </a:xfrm>
          <a:prstGeom prst="rect">
            <a:avLst/>
          </a:prstGeom>
        </p:spPr>
      </p:pic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14"/>
          <a:srcRect t="-384" b="-384"/>
          <a:stretch/>
        </p:blipFill>
        <p:spPr>
          <a:xfrm>
            <a:off x="8291779" y="3681374"/>
            <a:ext cx="1429207" cy="57607"/>
          </a:xfrm>
          <a:prstGeom prst="rect">
            <a:avLst/>
          </a:prstGeom>
        </p:spPr>
      </p:pic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386523" y="4547311"/>
            <a:ext cx="228600" cy="228600"/>
          </a:xfrm>
          <a:prstGeom prst="rect">
            <a:avLst/>
          </a:prstGeom>
        </p:spPr>
      </p:pic>
      <p:pic>
        <p:nvPicPr>
          <p:cNvPr id="53" name="Image 1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958023" y="4547311"/>
            <a:ext cx="228600" cy="228600"/>
          </a:xfrm>
          <a:prstGeom prst="rect">
            <a:avLst/>
          </a:prstGeom>
        </p:spPr>
      </p:pic>
      <p:pic>
        <p:nvPicPr>
          <p:cNvPr id="54" name="Image 17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719718" y="4547311"/>
            <a:ext cx="228600" cy="228600"/>
          </a:xfrm>
          <a:prstGeom prst="rect">
            <a:avLst/>
          </a:prstGeom>
        </p:spPr>
      </p:pic>
      <p:pic>
        <p:nvPicPr>
          <p:cNvPr id="55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482328" y="4547311"/>
            <a:ext cx="228600" cy="228600"/>
          </a:xfrm>
          <a:prstGeom prst="rect">
            <a:avLst/>
          </a:prstGeom>
        </p:spPr>
      </p:pic>
      <p:pic>
        <p:nvPicPr>
          <p:cNvPr id="5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053828" y="2728570"/>
            <a:ext cx="228600" cy="228600"/>
          </a:xfrm>
          <a:prstGeom prst="rect">
            <a:avLst/>
          </a:prstGeom>
        </p:spPr>
      </p:pic>
      <p:pic>
        <p:nvPicPr>
          <p:cNvPr id="57" name="Image 20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24621" y="3595421"/>
            <a:ext cx="228600" cy="228600"/>
          </a:xfrm>
          <a:prstGeom prst="rect">
            <a:avLst/>
          </a:prstGeom>
        </p:spPr>
      </p:pic>
      <p:pic>
        <p:nvPicPr>
          <p:cNvPr id="58" name="Image 21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9291218" y="3595421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-952805" y="-1904695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9334195" y="4000500"/>
            <a:ext cx="3810305" cy="3810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35331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381305"/>
            <a:ext cx="53995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Pull Request Flow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897026"/>
            <a:ext cx="44577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Through Pull Requests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789920" y="381305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789920" y="381305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57707" y="3235147"/>
            <a:ext cx="2933395" cy="19202"/>
          </a:xfrm>
          <a:prstGeom prst="rect">
            <a:avLst/>
          </a:prstGeom>
          <a:solidFill>
            <a:srgbClr val="00B4FF">
              <a:alpha val="30000"/>
            </a:srgbClr>
          </a:solidFill>
          <a:ln w="12700">
            <a:solidFill>
              <a:srgbClr val="00B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1107338" y="2987345"/>
            <a:ext cx="279897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Local Machine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000500" y="3235147"/>
            <a:ext cx="7334402" cy="19202"/>
          </a:xfrm>
          <a:prstGeom prst="rect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4250131" y="2987345"/>
            <a:ext cx="71990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 Server (GitHub/Azure)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6640" r="-6640"/>
          <a:stretch/>
        </p:blipFill>
        <p:spPr>
          <a:xfrm>
            <a:off x="857707" y="3021178"/>
            <a:ext cx="161849" cy="114300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6640" r="-6640"/>
          <a:stretch/>
        </p:blipFill>
        <p:spPr>
          <a:xfrm>
            <a:off x="4000500" y="3021178"/>
            <a:ext cx="161849" cy="114300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399" b="-399"/>
          <a:stretch/>
        </p:blipFill>
        <p:spPr>
          <a:xfrm>
            <a:off x="761695" y="4016045"/>
            <a:ext cx="10668305" cy="38405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3407" y="3730752"/>
            <a:ext cx="609905" cy="609905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947318" y="3920947"/>
            <a:ext cx="200254" cy="2286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38582" y="4492447"/>
            <a:ext cx="10195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</a:t>
            </a:r>
            <a:endParaRPr lang="en-US" sz="1000" dirty="0"/>
          </a:p>
        </p:txBody>
      </p:sp>
      <p:sp>
        <p:nvSpPr>
          <p:cNvPr id="21" name="Text 12"/>
          <p:cNvSpPr txBox="1"/>
          <p:nvPr/>
        </p:nvSpPr>
        <p:spPr>
          <a:xfrm>
            <a:off x="537667" y="4877410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</a:t>
            </a:r>
            <a:endParaRPr lang="en-US" sz="8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52144" y="3634740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114654" y="363474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425903" y="3730752"/>
            <a:ext cx="609905" cy="609905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1"/>
          <a:srcRect l="-133" r="-133"/>
          <a:stretch/>
        </p:blipFill>
        <p:spPr>
          <a:xfrm>
            <a:off x="2644445" y="3920947"/>
            <a:ext cx="171907" cy="22860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2411273" y="4492447"/>
            <a:ext cx="6382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</a:t>
            </a:r>
            <a:endParaRPr lang="en-US" sz="1000" dirty="0"/>
          </a:p>
        </p:txBody>
      </p:sp>
      <p:sp>
        <p:nvSpPr>
          <p:cNvPr id="27" name="Text 15"/>
          <p:cNvSpPr txBox="1"/>
          <p:nvPr/>
        </p:nvSpPr>
        <p:spPr>
          <a:xfrm>
            <a:off x="2377440" y="4877410"/>
            <a:ext cx="715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8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835554" y="3634740"/>
            <a:ext cx="228600" cy="22860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2797150" y="363474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108399" y="3730752"/>
            <a:ext cx="609905" cy="609905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3"/>
          <a:srcRect l="-80" r="-80"/>
          <a:stretch/>
        </p:blipFill>
        <p:spPr>
          <a:xfrm>
            <a:off x="4270248" y="3920947"/>
            <a:ext cx="286207" cy="228600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4136746" y="4492447"/>
            <a:ext cx="5623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</a:t>
            </a:r>
            <a:endParaRPr lang="en-US" sz="1000" dirty="0"/>
          </a:p>
        </p:txBody>
      </p:sp>
      <p:sp>
        <p:nvSpPr>
          <p:cNvPr id="33" name="Text 18"/>
          <p:cNvSpPr txBox="1"/>
          <p:nvPr/>
        </p:nvSpPr>
        <p:spPr>
          <a:xfrm>
            <a:off x="4123030" y="4877410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8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518050" y="3634740"/>
            <a:ext cx="228600" cy="22860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4479646" y="363474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790895" y="3730752"/>
            <a:ext cx="609905" cy="609905"/>
          </a:xfrm>
          <a:prstGeom prst="rect">
            <a:avLst/>
          </a:prstGeom>
        </p:spPr>
      </p:pic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981090" y="3920947"/>
            <a:ext cx="228600" cy="228600"/>
          </a:xfrm>
          <a:prstGeom prst="rect">
            <a:avLst/>
          </a:prstGeom>
        </p:spPr>
      </p:pic>
      <p:sp>
        <p:nvSpPr>
          <p:cNvPr id="38" name="Text 20"/>
          <p:cNvSpPr txBox="1"/>
          <p:nvPr/>
        </p:nvSpPr>
        <p:spPr>
          <a:xfrm>
            <a:off x="5892394" y="4492447"/>
            <a:ext cx="4096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</a:t>
            </a:r>
            <a:endParaRPr lang="en-US" sz="1000" dirty="0"/>
          </a:p>
        </p:txBody>
      </p:sp>
      <p:sp>
        <p:nvSpPr>
          <p:cNvPr id="39" name="Text 21"/>
          <p:cNvSpPr txBox="1"/>
          <p:nvPr/>
        </p:nvSpPr>
        <p:spPr>
          <a:xfrm>
            <a:off x="5868619" y="4877410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UI</a:t>
            </a:r>
            <a:endParaRPr lang="en-US" sz="800" dirty="0"/>
          </a:p>
        </p:txBody>
      </p:sp>
      <p:pic>
        <p:nvPicPr>
          <p:cNvPr id="40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200546" y="3634740"/>
            <a:ext cx="228600" cy="228600"/>
          </a:xfrm>
          <a:prstGeom prst="rect">
            <a:avLst/>
          </a:prstGeom>
        </p:spPr>
      </p:pic>
      <p:sp>
        <p:nvSpPr>
          <p:cNvPr id="41" name="Text 22"/>
          <p:cNvSpPr/>
          <p:nvPr/>
        </p:nvSpPr>
        <p:spPr>
          <a:xfrm>
            <a:off x="6162142" y="363474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473391" y="3730752"/>
            <a:ext cx="609905" cy="609905"/>
          </a:xfrm>
          <a:prstGeom prst="rect">
            <a:avLst/>
          </a:prstGeom>
        </p:spPr>
      </p:pic>
      <p:pic>
        <p:nvPicPr>
          <p:cNvPr id="43" name="Image 18" descr="preencoded.png"/>
          <p:cNvPicPr>
            <a:picLocks noChangeAspect="1"/>
          </p:cNvPicPr>
          <p:nvPr/>
        </p:nvPicPr>
        <p:blipFill>
          <a:blip r:embed="rId19"/>
          <a:srcRect l="-80" r="-80"/>
          <a:stretch/>
        </p:blipFill>
        <p:spPr>
          <a:xfrm>
            <a:off x="7635240" y="3920947"/>
            <a:ext cx="286207" cy="228600"/>
          </a:xfrm>
          <a:prstGeom prst="rect">
            <a:avLst/>
          </a:prstGeom>
        </p:spPr>
      </p:pic>
      <p:sp>
        <p:nvSpPr>
          <p:cNvPr id="44" name="Text 23"/>
          <p:cNvSpPr txBox="1"/>
          <p:nvPr/>
        </p:nvSpPr>
        <p:spPr>
          <a:xfrm>
            <a:off x="7514539" y="4492447"/>
            <a:ext cx="5340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00" dirty="0"/>
          </a:p>
        </p:txBody>
      </p:sp>
      <p:sp>
        <p:nvSpPr>
          <p:cNvPr id="45" name="Text 24"/>
          <p:cNvSpPr txBox="1"/>
          <p:nvPr/>
        </p:nvSpPr>
        <p:spPr>
          <a:xfrm>
            <a:off x="7268566" y="4877410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Discussion</a:t>
            </a:r>
            <a:endParaRPr lang="en-US" sz="800" dirty="0"/>
          </a:p>
        </p:txBody>
      </p:sp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883042" y="3634740"/>
            <a:ext cx="228600" cy="228600"/>
          </a:xfrm>
          <a:prstGeom prst="rect">
            <a:avLst/>
          </a:prstGeom>
        </p:spPr>
      </p:pic>
      <p:sp>
        <p:nvSpPr>
          <p:cNvPr id="47" name="Text 25"/>
          <p:cNvSpPr/>
          <p:nvPr/>
        </p:nvSpPr>
        <p:spPr>
          <a:xfrm>
            <a:off x="7844638" y="363474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9155887" y="3730752"/>
            <a:ext cx="609905" cy="609905"/>
          </a:xfrm>
          <a:prstGeom prst="rect">
            <a:avLst/>
          </a:prstGeom>
        </p:spPr>
      </p:pic>
      <p:pic>
        <p:nvPicPr>
          <p:cNvPr id="49" name="Image 21" descr="preencoded.png"/>
          <p:cNvPicPr>
            <a:picLocks noChangeAspect="1"/>
          </p:cNvPicPr>
          <p:nvPr/>
        </p:nvPicPr>
        <p:blipFill>
          <a:blip r:embed="rId22"/>
          <a:srcRect l="-57" r="-57"/>
          <a:stretch/>
        </p:blipFill>
        <p:spPr>
          <a:xfrm>
            <a:off x="9360713" y="3920947"/>
            <a:ext cx="200254" cy="228600"/>
          </a:xfrm>
          <a:prstGeom prst="rect">
            <a:avLst/>
          </a:prstGeom>
        </p:spPr>
      </p:pic>
      <p:sp>
        <p:nvSpPr>
          <p:cNvPr id="50" name="Text 26"/>
          <p:cNvSpPr txBox="1"/>
          <p:nvPr/>
        </p:nvSpPr>
        <p:spPr>
          <a:xfrm>
            <a:off x="9094622" y="4492447"/>
            <a:ext cx="7342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</a:t>
            </a:r>
            <a:endParaRPr lang="en-US" sz="1000" dirty="0"/>
          </a:p>
        </p:txBody>
      </p:sp>
      <p:sp>
        <p:nvSpPr>
          <p:cNvPr id="51" name="Text 27"/>
          <p:cNvSpPr txBox="1"/>
          <p:nvPr/>
        </p:nvSpPr>
        <p:spPr>
          <a:xfrm>
            <a:off x="9014155" y="4877410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to Main</a:t>
            </a:r>
            <a:endParaRPr lang="en-US" sz="800" dirty="0"/>
          </a:p>
        </p:txBody>
      </p:sp>
      <p:pic>
        <p:nvPicPr>
          <p:cNvPr id="52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9565538" y="3634740"/>
            <a:ext cx="228600" cy="228600"/>
          </a:xfrm>
          <a:prstGeom prst="rect">
            <a:avLst/>
          </a:prstGeom>
        </p:spPr>
      </p:pic>
      <p:sp>
        <p:nvSpPr>
          <p:cNvPr id="53" name="Text 28"/>
          <p:cNvSpPr/>
          <p:nvPr/>
        </p:nvSpPr>
        <p:spPr>
          <a:xfrm>
            <a:off x="9528048" y="363474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pic>
        <p:nvPicPr>
          <p:cNvPr id="54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0839298" y="3730752"/>
            <a:ext cx="609905" cy="609905"/>
          </a:xfrm>
          <a:prstGeom prst="rect">
            <a:avLst/>
          </a:prstGeom>
        </p:spPr>
      </p:pic>
      <p:pic>
        <p:nvPicPr>
          <p:cNvPr id="55" name="Image 24" descr="preencoded.png"/>
          <p:cNvPicPr>
            <a:picLocks noChangeAspect="1"/>
          </p:cNvPicPr>
          <p:nvPr/>
        </p:nvPicPr>
        <p:blipFill>
          <a:blip r:embed="rId25"/>
          <a:srcRect l="-57" r="-57"/>
          <a:stretch/>
        </p:blipFill>
        <p:spPr>
          <a:xfrm>
            <a:off x="11043209" y="3920947"/>
            <a:ext cx="200254" cy="228600"/>
          </a:xfrm>
          <a:prstGeom prst="rect">
            <a:avLst/>
          </a:prstGeom>
        </p:spPr>
      </p:pic>
      <p:sp>
        <p:nvSpPr>
          <p:cNvPr id="56" name="Text 29"/>
          <p:cNvSpPr txBox="1"/>
          <p:nvPr/>
        </p:nvSpPr>
        <p:spPr>
          <a:xfrm>
            <a:off x="10884103" y="4492447"/>
            <a:ext cx="5239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</a:t>
            </a:r>
            <a:endParaRPr lang="en-US" sz="1000" dirty="0"/>
          </a:p>
        </p:txBody>
      </p:sp>
      <p:sp>
        <p:nvSpPr>
          <p:cNvPr id="57" name="Text 30"/>
          <p:cNvSpPr txBox="1"/>
          <p:nvPr/>
        </p:nvSpPr>
        <p:spPr>
          <a:xfrm>
            <a:off x="10885018" y="4877410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Cleanup</a:t>
            </a:r>
            <a:endParaRPr lang="en-US" sz="800" dirty="0"/>
          </a:p>
        </p:txBody>
      </p:sp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248034" y="3634740"/>
            <a:ext cx="228600" cy="228600"/>
          </a:xfrm>
          <a:prstGeom prst="rect">
            <a:avLst/>
          </a:prstGeom>
        </p:spPr>
      </p:pic>
      <p:sp>
        <p:nvSpPr>
          <p:cNvPr id="59" name="Text 31"/>
          <p:cNvSpPr/>
          <p:nvPr/>
        </p:nvSpPr>
        <p:spPr>
          <a:xfrm>
            <a:off x="11210544" y="363474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8382305" y="-1904695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4000500"/>
            <a:ext cx="3810305" cy="3810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/>
          <a:stretch/>
        </p:blipFill>
        <p:spPr>
          <a:xfrm>
            <a:off x="4667098" y="1314907"/>
            <a:ext cx="2857500" cy="28575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0" y="135331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 txBox="1"/>
          <p:nvPr/>
        </p:nvSpPr>
        <p:spPr>
          <a:xfrm>
            <a:off x="476402" y="381305"/>
            <a:ext cx="36630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Flow Model</a:t>
            </a:r>
            <a:endParaRPr lang="en-US" sz="3100" dirty="0"/>
          </a:p>
        </p:txBody>
      </p:sp>
      <p:sp>
        <p:nvSpPr>
          <p:cNvPr id="9" name="Text 4"/>
          <p:cNvSpPr txBox="1"/>
          <p:nvPr/>
        </p:nvSpPr>
        <p:spPr>
          <a:xfrm>
            <a:off x="476402" y="897026"/>
            <a:ext cx="333938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Branching for Teams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10789920" y="381305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10789920" y="381305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20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286000" y="6021324"/>
            <a:ext cx="7619695" cy="780898"/>
          </a:xfrm>
          <a:prstGeom prst="roundRect">
            <a:avLst>
              <a:gd name="adj" fmla="val 22848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2286000" y="6021324"/>
            <a:ext cx="38405" cy="780898"/>
          </a:xfrm>
          <a:prstGeom prst="roundRect">
            <a:avLst>
              <a:gd name="adj" fmla="val 46457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53005" y="6298387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971800" y="6021324"/>
            <a:ext cx="6772961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Rule:</a:t>
            </a:r>
            <a:r>
              <a:rPr lang="en-US" sz="12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Never commit code directly to the Main branch. Always use Pull Requests. 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 t="-8" b="-8"/>
          <a:stretch/>
        </p:blipFill>
        <p:spPr>
          <a:xfrm>
            <a:off x="476402" y="1735531"/>
            <a:ext cx="3396996" cy="381030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1841602" y="2059229"/>
            <a:ext cx="666598" cy="666598"/>
          </a:xfrm>
          <a:prstGeom prst="ellipse">
            <a:avLst/>
          </a:prstGeom>
          <a:solidFill>
            <a:srgbClr val="0F172A">
              <a:alpha val="60000"/>
            </a:srgbClr>
          </a:solidFill>
          <a:ln w="25400">
            <a:solidFill>
              <a:srgbClr val="00B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l="-881" r="-881"/>
          <a:stretch/>
        </p:blipFill>
        <p:spPr>
          <a:xfrm>
            <a:off x="2055571" y="2259482"/>
            <a:ext cx="237744" cy="26700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861718" y="2878531"/>
            <a:ext cx="629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1800" dirty="0"/>
          </a:p>
        </p:txBody>
      </p:sp>
      <p:sp>
        <p:nvSpPr>
          <p:cNvPr id="20" name="Shape 12"/>
          <p:cNvSpPr/>
          <p:nvPr/>
        </p:nvSpPr>
        <p:spPr>
          <a:xfrm>
            <a:off x="1530706" y="3297326"/>
            <a:ext cx="1295705" cy="295351"/>
          </a:xfrm>
          <a:prstGeom prst="roundRect">
            <a:avLst>
              <a:gd name="adj" fmla="val 309598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00B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1502359" y="3297326"/>
            <a:ext cx="13533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/ master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733349" y="3821278"/>
            <a:ext cx="28867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branch containing production-ready code only. 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733349" y="4461358"/>
            <a:ext cx="28867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"Gold Standard". It must always be deployable.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771754" y="5101438"/>
            <a:ext cx="2809951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 txBox="1"/>
          <p:nvPr/>
        </p:nvSpPr>
        <p:spPr>
          <a:xfrm>
            <a:off x="733349" y="5224882"/>
            <a:ext cx="288676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accepts merges from Develop or Hotfixes.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t="-8" b="-8"/>
          <a:stretch/>
        </p:blipFill>
        <p:spPr>
          <a:xfrm>
            <a:off x="4397350" y="1735531"/>
            <a:ext cx="3396996" cy="3810305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5762549" y="2059229"/>
            <a:ext cx="666598" cy="666598"/>
          </a:xfrm>
          <a:prstGeom prst="ellipse">
            <a:avLst/>
          </a:prstGeom>
          <a:solidFill>
            <a:srgbClr val="0F172A">
              <a:alpha val="60000"/>
            </a:srgbClr>
          </a:solidFill>
          <a:ln w="2540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l="-881" r="-881"/>
          <a:stretch/>
        </p:blipFill>
        <p:spPr>
          <a:xfrm>
            <a:off x="5976518" y="2259482"/>
            <a:ext cx="237744" cy="2670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5582412" y="2878531"/>
            <a:ext cx="1028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</a:t>
            </a:r>
            <a:endParaRPr lang="en-US" sz="1800" dirty="0"/>
          </a:p>
        </p:txBody>
      </p:sp>
      <p:sp>
        <p:nvSpPr>
          <p:cNvPr id="30" name="Shape 20"/>
          <p:cNvSpPr/>
          <p:nvPr/>
        </p:nvSpPr>
        <p:spPr>
          <a:xfrm>
            <a:off x="5692140" y="3297326"/>
            <a:ext cx="809244" cy="295351"/>
          </a:xfrm>
          <a:prstGeom prst="roundRect">
            <a:avLst>
              <a:gd name="adj" fmla="val 309598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1"/>
          <p:cNvSpPr/>
          <p:nvPr/>
        </p:nvSpPr>
        <p:spPr>
          <a:xfrm>
            <a:off x="5663794" y="3297326"/>
            <a:ext cx="8668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4654296" y="3821278"/>
            <a:ext cx="28867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main </a:t>
            </a: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branch. Serves as the staging area for the "Next Release". 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4654296" y="4705502"/>
            <a:ext cx="28867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Developers merge their completed features here for testing.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4692701" y="5345582"/>
            <a:ext cx="2809951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5"/>
          <p:cNvSpPr txBox="1"/>
          <p:nvPr/>
        </p:nvSpPr>
        <p:spPr>
          <a:xfrm>
            <a:off x="4654296" y="5469026"/>
            <a:ext cx="288676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of truth for daily development.</a:t>
            </a:r>
            <a:endParaRPr lang="en-US" sz="9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rcRect t="-8" b="-8"/>
          <a:stretch/>
        </p:blipFill>
        <p:spPr>
          <a:xfrm>
            <a:off x="8318297" y="1735531"/>
            <a:ext cx="3396996" cy="3810305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9683496" y="2059229"/>
            <a:ext cx="666598" cy="666598"/>
          </a:xfrm>
          <a:prstGeom prst="ellipse">
            <a:avLst/>
          </a:prstGeom>
          <a:solidFill>
            <a:srgbClr val="0F172A">
              <a:alpha val="60000"/>
            </a:srgbClr>
          </a:solidFill>
          <a:ln w="25400">
            <a:solidFill>
              <a:srgbClr val="39FF1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rcRect l="-685" r="-685"/>
          <a:stretch/>
        </p:blipFill>
        <p:spPr>
          <a:xfrm>
            <a:off x="9864547" y="2259482"/>
            <a:ext cx="304495" cy="267005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9435694" y="2878531"/>
            <a:ext cx="11676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800" dirty="0"/>
          </a:p>
        </p:txBody>
      </p:sp>
      <p:sp>
        <p:nvSpPr>
          <p:cNvPr id="40" name="Shape 28"/>
          <p:cNvSpPr/>
          <p:nvPr/>
        </p:nvSpPr>
        <p:spPr>
          <a:xfrm>
            <a:off x="9533534" y="3297326"/>
            <a:ext cx="972007" cy="295351"/>
          </a:xfrm>
          <a:prstGeom prst="roundRect">
            <a:avLst>
              <a:gd name="adj" fmla="val 309598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9"/>
          <p:cNvSpPr/>
          <p:nvPr/>
        </p:nvSpPr>
        <p:spPr>
          <a:xfrm>
            <a:off x="9504274" y="3297326"/>
            <a:ext cx="10287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feature/*</a:t>
            </a:r>
            <a:endParaRPr lang="en-US" sz="1000" dirty="0"/>
          </a:p>
        </p:txBody>
      </p:sp>
      <p:sp>
        <p:nvSpPr>
          <p:cNvPr id="42" name="Text 30"/>
          <p:cNvSpPr txBox="1"/>
          <p:nvPr/>
        </p:nvSpPr>
        <p:spPr>
          <a:xfrm>
            <a:off x="8576158" y="3821278"/>
            <a:ext cx="28867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Short-lived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branches for specific tasks or user stories. 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8557870" y="4461358"/>
            <a:ext cx="292242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Example: </a:t>
            </a:r>
            <a:r>
              <a:rPr lang="en-US" sz="1200" dirty="0">
                <a:solidFill>
                  <a:srgbClr val="39FF1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feature/login-page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8613648" y="4876495"/>
            <a:ext cx="2809951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3"/>
          <p:cNvSpPr txBox="1"/>
          <p:nvPr/>
        </p:nvSpPr>
        <p:spPr>
          <a:xfrm>
            <a:off x="8576158" y="4999939"/>
            <a:ext cx="288676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Deleted immediately after merging into Develop.</a:t>
            </a:r>
            <a:endParaRPr lang="en-US" sz="9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rcRect t="-80" b="-80"/>
          <a:stretch/>
        </p:blipFill>
        <p:spPr>
          <a:xfrm>
            <a:off x="4063594" y="3516782"/>
            <a:ext cx="142646" cy="228600"/>
          </a:xfrm>
          <a:prstGeom prst="rect">
            <a:avLst/>
          </a:prstGeom>
        </p:spPr>
      </p:pic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3"/>
          <a:srcRect t="-80" b="-80"/>
          <a:stretch/>
        </p:blipFill>
        <p:spPr>
          <a:xfrm>
            <a:off x="7985455" y="3516782"/>
            <a:ext cx="142646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8858707" y="-952805"/>
            <a:ext cx="4286707" cy="42867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35331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381305"/>
            <a:ext cx="46552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Linking Work Items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897026"/>
            <a:ext cx="3924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Code to Tasks Automatically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789920" y="381305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789920" y="381305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20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999439" y="2420417"/>
            <a:ext cx="41157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Developer Action 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3882" r="-3882"/>
          <a:stretch/>
        </p:blipFill>
        <p:spPr>
          <a:xfrm>
            <a:off x="761695" y="2453335"/>
            <a:ext cx="161849" cy="133502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761695" y="2772461"/>
            <a:ext cx="4238244" cy="2219249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71754" y="2782519"/>
            <a:ext cx="4219956" cy="295351"/>
          </a:xfrm>
          <a:prstGeom prst="roundRect">
            <a:avLst>
              <a:gd name="adj" fmla="val 23968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771754" y="3068726"/>
            <a:ext cx="4219956" cy="9144"/>
          </a:xfrm>
          <a:prstGeom prst="roundRect">
            <a:avLst>
              <a:gd name="adj" fmla="val 77419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923544" y="2877617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961949" y="4151376"/>
            <a:ext cx="39154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[feature/login 8a2b3c] Fix login timeout issue #342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file changed, 12 insertions(+) 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7411212" y="2632558"/>
            <a:ext cx="41340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Platform Result 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3425" r="-3425"/>
          <a:stretch/>
        </p:blipFill>
        <p:spPr>
          <a:xfrm>
            <a:off x="7191756" y="2665476"/>
            <a:ext cx="142646" cy="1335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61949" y="3287268"/>
            <a:ext cx="171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130198" y="3287268"/>
            <a:ext cx="905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961949" y="3607308"/>
            <a:ext cx="171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130198" y="3607308"/>
            <a:ext cx="13624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61949" y="3607308"/>
            <a:ext cx="372435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 login timeout issue </a:t>
            </a:r>
            <a:r>
              <a:rPr lang="en-US" sz="12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#342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t="-384" b="-384"/>
          <a:stretch/>
        </p:blipFill>
        <p:spPr>
          <a:xfrm>
            <a:off x="5381244" y="3515868"/>
            <a:ext cx="1429207" cy="1920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678424" y="3820363"/>
            <a:ext cx="99395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Auto-Detection</a:t>
            </a:r>
            <a:endParaRPr lang="en-US" sz="9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 t="-16" b="-16"/>
          <a:stretch/>
        </p:blipFill>
        <p:spPr>
          <a:xfrm>
            <a:off x="7191756" y="2984602"/>
            <a:ext cx="4238244" cy="1795882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 l="-388" r="-388"/>
          <a:stretch/>
        </p:blipFill>
        <p:spPr>
          <a:xfrm>
            <a:off x="7191756" y="2984602"/>
            <a:ext cx="57607" cy="179588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438644" y="3174797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</a:t>
            </a:r>
            <a:r>
              <a:rPr lang="en-US" sz="90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#342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7712964" y="3184855"/>
            <a:ext cx="381305" cy="142646"/>
          </a:xfrm>
          <a:prstGeom prst="roundRect">
            <a:avLst>
              <a:gd name="adj" fmla="val 170941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4"/>
          <p:cNvSpPr txBox="1"/>
          <p:nvPr/>
        </p:nvSpPr>
        <p:spPr>
          <a:xfrm>
            <a:off x="10736885" y="3174797"/>
            <a:ext cx="581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Just now</a:t>
            </a:r>
            <a:endParaRPr lang="en-US" sz="9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594238" y="3198571"/>
            <a:ext cx="114300" cy="11430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686446" y="3384194"/>
            <a:ext cx="380024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Login page times out on slow networks </a:t>
            </a:r>
            <a:endParaRPr lang="en-US" sz="13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438644" y="3427171"/>
            <a:ext cx="171907" cy="171907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7438644" y="3756355"/>
            <a:ext cx="857707" cy="237744"/>
          </a:xfrm>
          <a:prstGeom prst="roundRect">
            <a:avLst>
              <a:gd name="adj" fmla="val 369231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7"/>
          <p:cNvSpPr txBox="1"/>
          <p:nvPr/>
        </p:nvSpPr>
        <p:spPr>
          <a:xfrm>
            <a:off x="7438644" y="3756355"/>
            <a:ext cx="9144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40" name="Shape 28"/>
          <p:cNvSpPr/>
          <p:nvPr/>
        </p:nvSpPr>
        <p:spPr>
          <a:xfrm>
            <a:off x="8403336" y="3756355"/>
            <a:ext cx="733349" cy="237744"/>
          </a:xfrm>
          <a:prstGeom prst="roundRect">
            <a:avLst>
              <a:gd name="adj" fmla="val 36923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9"/>
          <p:cNvSpPr txBox="1"/>
          <p:nvPr/>
        </p:nvSpPr>
        <p:spPr>
          <a:xfrm>
            <a:off x="8403336" y="3756355"/>
            <a:ext cx="7909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800" dirty="0"/>
          </a:p>
        </p:txBody>
      </p:sp>
      <p:sp>
        <p:nvSpPr>
          <p:cNvPr id="42" name="Shape 30"/>
          <p:cNvSpPr/>
          <p:nvPr/>
        </p:nvSpPr>
        <p:spPr>
          <a:xfrm>
            <a:off x="9248242" y="3756355"/>
            <a:ext cx="961949" cy="237744"/>
          </a:xfrm>
          <a:prstGeom prst="roundRect">
            <a:avLst>
              <a:gd name="adj" fmla="val 36923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1"/>
          <p:cNvSpPr txBox="1"/>
          <p:nvPr/>
        </p:nvSpPr>
        <p:spPr>
          <a:xfrm>
            <a:off x="9248242" y="3756355"/>
            <a:ext cx="10195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Priority: High</a:t>
            </a:r>
            <a:endParaRPr lang="en-US" sz="800" dirty="0"/>
          </a:p>
        </p:txBody>
      </p:sp>
      <p:sp>
        <p:nvSpPr>
          <p:cNvPr id="44" name="Shape 32"/>
          <p:cNvSpPr/>
          <p:nvPr/>
        </p:nvSpPr>
        <p:spPr>
          <a:xfrm>
            <a:off x="7191756" y="4332427"/>
            <a:ext cx="4238244" cy="448056"/>
          </a:xfrm>
          <a:prstGeom prst="roundRect">
            <a:avLst>
              <a:gd name="adj" fmla="val 6947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3"/>
          <p:cNvSpPr/>
          <p:nvPr/>
        </p:nvSpPr>
        <p:spPr>
          <a:xfrm>
            <a:off x="7191756" y="4332427"/>
            <a:ext cx="4238244" cy="9144"/>
          </a:xfrm>
          <a:prstGeom prst="roundRect">
            <a:avLst>
              <a:gd name="adj" fmla="val 3404255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7438644" y="4494276"/>
            <a:ext cx="114300" cy="13350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7648956" y="4332427"/>
            <a:ext cx="9811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Commit:</a:t>
            </a:r>
            <a:endParaRPr lang="en-US" sz="900" dirty="0"/>
          </a:p>
        </p:txBody>
      </p:sp>
      <p:sp>
        <p:nvSpPr>
          <p:cNvPr id="48" name="Shape 35"/>
          <p:cNvSpPr/>
          <p:nvPr/>
        </p:nvSpPr>
        <p:spPr>
          <a:xfrm>
            <a:off x="8664854" y="4455871"/>
            <a:ext cx="533095" cy="209398"/>
          </a:xfrm>
          <a:prstGeom prst="roundRect">
            <a:avLst>
              <a:gd name="adj" fmla="val 15879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6"/>
          <p:cNvSpPr txBox="1"/>
          <p:nvPr/>
        </p:nvSpPr>
        <p:spPr>
          <a:xfrm>
            <a:off x="8664854" y="4455871"/>
            <a:ext cx="6099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8a2b3c</a:t>
            </a:r>
            <a:endParaRPr lang="en-US" sz="900" dirty="0"/>
          </a:p>
        </p:txBody>
      </p:sp>
      <p:sp>
        <p:nvSpPr>
          <p:cNvPr id="50" name="Text 37"/>
          <p:cNvSpPr txBox="1"/>
          <p:nvPr/>
        </p:nvSpPr>
        <p:spPr>
          <a:xfrm>
            <a:off x="10821010" y="4332427"/>
            <a:ext cx="42702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Linked </a:t>
            </a:r>
            <a:endParaRPr lang="en-US" sz="9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rcRect l="-2571" r="-2571"/>
          <a:stretch/>
        </p:blipFill>
        <p:spPr>
          <a:xfrm>
            <a:off x="10685678" y="4498848"/>
            <a:ext cx="105156" cy="114300"/>
          </a:xfrm>
          <a:prstGeom prst="rect">
            <a:avLst/>
          </a:prstGeom>
        </p:spPr>
      </p:pic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>
            <a:alphaModFix amt="70000"/>
          </a:blip>
          <a:srcRect l="-57" r="-57"/>
          <a:stretch/>
        </p:blipFill>
        <p:spPr>
          <a:xfrm>
            <a:off x="4073652" y="5563210"/>
            <a:ext cx="200254" cy="228600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4369003" y="5563210"/>
            <a:ext cx="1176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DevOps</a:t>
            </a:r>
            <a:endParaRPr lang="en-US" sz="1200" dirty="0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6">
            <a:alphaModFix amt="70000"/>
          </a:blip>
          <a:srcRect t="-456" b="-456"/>
          <a:stretch/>
        </p:blipFill>
        <p:spPr>
          <a:xfrm>
            <a:off x="5808269" y="5563210"/>
            <a:ext cx="219456" cy="228600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6122822" y="5563210"/>
            <a:ext cx="12243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Issues</a:t>
            </a:r>
            <a:endParaRPr lang="en-US" sz="120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17">
            <a:alphaModFix amt="70000"/>
          </a:blip>
          <a:srcRect t="-456" b="-456"/>
          <a:stretch/>
        </p:blipFill>
        <p:spPr>
          <a:xfrm>
            <a:off x="7529170" y="5563210"/>
            <a:ext cx="219456" cy="228600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7843723" y="5563210"/>
            <a:ext cx="352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</a:t>
            </a:r>
            <a:endParaRPr lang="en-US" sz="1200" dirty="0"/>
          </a:p>
        </p:txBody>
      </p:sp>
      <p:sp>
        <p:nvSpPr>
          <p:cNvPr id="58" name="Shape 41"/>
          <p:cNvSpPr/>
          <p:nvPr/>
        </p:nvSpPr>
        <p:spPr>
          <a:xfrm>
            <a:off x="5905195" y="3515868"/>
            <a:ext cx="381305" cy="381305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6029554" y="3639312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rcRect/>
          <a:stretch/>
        </p:blipFill>
        <p:spPr>
          <a:xfrm>
            <a:off x="8858707" y="-1429207"/>
            <a:ext cx="4286707" cy="42867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2000"/>
          </a:blip>
          <a:srcRect/>
          <a:stretch/>
        </p:blipFill>
        <p:spPr>
          <a:xfrm>
            <a:off x="-952805" y="4000500"/>
            <a:ext cx="3810305" cy="3810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257300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286207"/>
            <a:ext cx="6391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Common Scenarios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801929"/>
            <a:ext cx="58585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Git Recipes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789920" y="286207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789920" y="286207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20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476402" y="1449324"/>
            <a:ext cx="5533949" cy="252283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85800" y="1630375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0898" y="1726387"/>
            <a:ext cx="152705" cy="1527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1673352"/>
            <a:ext cx="198241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Undo Local Changes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931359" y="1683410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 txBox="1"/>
          <p:nvPr/>
        </p:nvSpPr>
        <p:spPr>
          <a:xfrm>
            <a:off x="4931359" y="1683410"/>
            <a:ext cx="9628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Destructive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685800" y="2069287"/>
            <a:ext cx="5220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Discard all local changes in your working directory since the last commit. </a:t>
            </a: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Warning:</a:t>
            </a: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cannot be undone.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85800" y="3358591"/>
            <a:ext cx="5143500" cy="437998"/>
          </a:xfrm>
          <a:prstGeom prst="roundRect">
            <a:avLst>
              <a:gd name="adj" fmla="val 7261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809244" y="3482035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960120" y="3482035"/>
            <a:ext cx="1638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</a:t>
            </a: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--hard</a:t>
            </a: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9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4" r="-4"/>
          <a:stretch/>
        </p:blipFill>
        <p:spPr>
          <a:xfrm>
            <a:off x="6181344" y="1449324"/>
            <a:ext cx="5533949" cy="252283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391656" y="1630375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39FF14">
              <a:alpha val="10000"/>
            </a:srgbClr>
          </a:solidFill>
          <a:ln w="12700">
            <a:solidFill>
              <a:srgbClr val="39FF1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86754" y="1726387"/>
            <a:ext cx="152705" cy="152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48856" y="1673352"/>
            <a:ext cx="99212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Undo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10354666" y="1683410"/>
            <a:ext cx="1181405" cy="237744"/>
          </a:xfrm>
          <a:prstGeom prst="roundRect">
            <a:avLst>
              <a:gd name="adj" fmla="val 123077"/>
            </a:avLst>
          </a:prstGeom>
          <a:solidFill>
            <a:srgbClr val="39FF14">
              <a:alpha val="1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 txBox="1"/>
          <p:nvPr/>
        </p:nvSpPr>
        <p:spPr>
          <a:xfrm>
            <a:off x="10354666" y="1683410"/>
            <a:ext cx="12390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Non-destructive</a:t>
            </a:r>
            <a:endParaRPr lang="en-US" sz="800" dirty="0"/>
          </a:p>
        </p:txBody>
      </p:sp>
      <p:sp>
        <p:nvSpPr>
          <p:cNvPr id="29" name="Text 21"/>
          <p:cNvSpPr txBox="1"/>
          <p:nvPr/>
        </p:nvSpPr>
        <p:spPr>
          <a:xfrm>
            <a:off x="6391656" y="2069287"/>
            <a:ext cx="5220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new commit that creates the opposite effect of a previous commit. History is preserved.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391656" y="3358591"/>
            <a:ext cx="5143500" cy="437998"/>
          </a:xfrm>
          <a:prstGeom prst="roundRect">
            <a:avLst>
              <a:gd name="adj" fmla="val 7261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6515100" y="3482035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6665976" y="3482035"/>
            <a:ext cx="1867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</a:t>
            </a: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&lt;commit-hash&gt;</a:t>
            </a:r>
            <a:endParaRPr lang="en-US" sz="9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 l="-7" r="-7"/>
          <a:stretch/>
        </p:blipFill>
        <p:spPr>
          <a:xfrm>
            <a:off x="476402" y="4144061"/>
            <a:ext cx="5533949" cy="252283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657454" y="4325112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733349" y="4420210"/>
            <a:ext cx="190195" cy="1527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114654" y="4368089"/>
            <a:ext cx="171175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Ignore Build Files</a:t>
            </a:r>
            <a:endParaRPr lang="en-US" sz="1300" dirty="0"/>
          </a:p>
        </p:txBody>
      </p:sp>
      <p:sp>
        <p:nvSpPr>
          <p:cNvPr id="38" name="Text 28"/>
          <p:cNvSpPr txBox="1"/>
          <p:nvPr/>
        </p:nvSpPr>
        <p:spPr>
          <a:xfrm>
            <a:off x="657454" y="4763110"/>
            <a:ext cx="52486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build artifacts and logs from cluttering your repository by adding them to </a:t>
            </a:r>
            <a:r>
              <a:rPr lang="en-US" sz="10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.gitignore</a:t>
            </a: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657454" y="5424221"/>
            <a:ext cx="5171846" cy="1067105"/>
          </a:xfrm>
          <a:prstGeom prst="roundRect">
            <a:avLst>
              <a:gd name="adj" fmla="val 1224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780898" y="5758891"/>
            <a:ext cx="492404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/>
          <p:cNvSpPr txBox="1"/>
          <p:nvPr/>
        </p:nvSpPr>
        <p:spPr>
          <a:xfrm>
            <a:off x="780898" y="5548579"/>
            <a:ext cx="503925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780898" y="5805526"/>
            <a:ext cx="50008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bin/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obj/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*.log </a:t>
            </a:r>
            <a:endParaRPr lang="en-US" sz="9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9"/>
          <a:srcRect l="-7" r="-7"/>
          <a:stretch/>
        </p:blipFill>
        <p:spPr>
          <a:xfrm>
            <a:off x="6181344" y="4144061"/>
            <a:ext cx="5533949" cy="2522830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6362395" y="4325112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6439205" y="4420210"/>
            <a:ext cx="190195" cy="152705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6819595" y="4368089"/>
            <a:ext cx="231068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Work Temporarily</a:t>
            </a:r>
            <a:endParaRPr lang="en-US" sz="1300" dirty="0"/>
          </a:p>
        </p:txBody>
      </p:sp>
      <p:sp>
        <p:nvSpPr>
          <p:cNvPr id="47" name="Text 35"/>
          <p:cNvSpPr txBox="1"/>
          <p:nvPr/>
        </p:nvSpPr>
        <p:spPr>
          <a:xfrm>
            <a:off x="6362395" y="4763110"/>
            <a:ext cx="52486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branches without committing half-done work. Stashes your changes onto a stack to be reapplied later.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6362395" y="5790895"/>
            <a:ext cx="5171846" cy="694944"/>
          </a:xfrm>
          <a:prstGeom prst="roundRect">
            <a:avLst>
              <a:gd name="adj" fmla="val 2883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7"/>
          <p:cNvSpPr txBox="1"/>
          <p:nvPr/>
        </p:nvSpPr>
        <p:spPr>
          <a:xfrm>
            <a:off x="6486754" y="5915254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6636715" y="5915254"/>
            <a:ext cx="7525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900" dirty="0"/>
          </a:p>
        </p:txBody>
      </p:sp>
      <p:sp>
        <p:nvSpPr>
          <p:cNvPr id="51" name="Text 39"/>
          <p:cNvSpPr txBox="1"/>
          <p:nvPr/>
        </p:nvSpPr>
        <p:spPr>
          <a:xfrm>
            <a:off x="6486754" y="6176772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900" dirty="0"/>
          </a:p>
        </p:txBody>
      </p:sp>
      <p:sp>
        <p:nvSpPr>
          <p:cNvPr id="52" name="Text 40"/>
          <p:cNvSpPr txBox="1"/>
          <p:nvPr/>
        </p:nvSpPr>
        <p:spPr>
          <a:xfrm>
            <a:off x="6636715" y="6176772"/>
            <a:ext cx="19431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</a:t>
            </a: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other-branch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rcRect/>
          <a:stretch/>
        </p:blipFill>
        <p:spPr>
          <a:xfrm>
            <a:off x="-952805" y="-1904695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2000"/>
          </a:blip>
          <a:srcRect/>
          <a:stretch/>
        </p:blipFill>
        <p:spPr>
          <a:xfrm>
            <a:off x="9334195" y="4000500"/>
            <a:ext cx="3810305" cy="3810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35331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381305"/>
            <a:ext cx="61438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Mistakes to Avoid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897026"/>
            <a:ext cx="55156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Pitfalls &amp; Best Practices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789920" y="381305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789920" y="381305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20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402" y="1912925"/>
            <a:ext cx="11239805" cy="438637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5546" y="1922983"/>
            <a:ext cx="11220602" cy="543154"/>
          </a:xfrm>
          <a:prstGeom prst="roundRect">
            <a:avLst>
              <a:gd name="adj" fmla="val 70884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485546" y="2456993"/>
            <a:ext cx="11220602" cy="9144"/>
          </a:xfrm>
          <a:prstGeom prst="roundRect">
            <a:avLst>
              <a:gd name="adj" fmla="val 4210526"/>
            </a:avLst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2113178"/>
            <a:ext cx="161849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28700" y="2074774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Mistake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810098" y="2074774"/>
            <a:ext cx="9144" cy="228600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05449" y="2113178"/>
            <a:ext cx="161849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362395" y="2074774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Practice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85546" y="3227832"/>
            <a:ext cx="11220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771754" y="2637130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852221" y="2703881"/>
            <a:ext cx="105156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90549" y="2617927"/>
            <a:ext cx="2561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Committing directly to </a:t>
            </a:r>
            <a:r>
              <a:rPr lang="en-US" sz="9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1190549" y="2884932"/>
            <a:ext cx="23975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Risks breaking production code.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5810098" y="2617927"/>
            <a:ext cx="9144" cy="457200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7"/>
          <p:cNvSpPr/>
          <p:nvPr/>
        </p:nvSpPr>
        <p:spPr>
          <a:xfrm>
            <a:off x="6105449" y="2637130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39FF14">
              <a:alpha val="1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6181344" y="2703881"/>
            <a:ext cx="114300" cy="1335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524244" y="2617927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Feature Branches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6524244" y="2884932"/>
            <a:ext cx="4334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isolated environments: </a:t>
            </a: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feature/xyz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485546" y="3995014"/>
            <a:ext cx="11220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1"/>
          <p:cNvSpPr/>
          <p:nvPr/>
        </p:nvSpPr>
        <p:spPr>
          <a:xfrm>
            <a:off x="771754" y="3403397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819302" y="3470148"/>
            <a:ext cx="171907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190549" y="3384194"/>
            <a:ext cx="2784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Vague commit messages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1190549" y="3651199"/>
            <a:ext cx="27843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e.g., "fixed stuff", "update", "wip"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5810098" y="3384194"/>
            <a:ext cx="9144" cy="457200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6105449" y="3403397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39FF14">
              <a:alpha val="1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6181344" y="3470148"/>
            <a:ext cx="114300" cy="133502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524244" y="3384194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Atomic, Descriptive Commits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6524244" y="3651199"/>
            <a:ext cx="4800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 login timeout issue #342" - explains the 'why' and 'what'.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485546" y="4761281"/>
            <a:ext cx="11220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9"/>
          <p:cNvSpPr/>
          <p:nvPr/>
        </p:nvSpPr>
        <p:spPr>
          <a:xfrm>
            <a:off x="771754" y="4170578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rcRect l="-2512" r="-2512"/>
          <a:stretch/>
        </p:blipFill>
        <p:spPr>
          <a:xfrm>
            <a:off x="852221" y="4237330"/>
            <a:ext cx="105156" cy="133502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1190549" y="4151376"/>
            <a:ext cx="3762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Pushing without Pulling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1190549" y="4418381"/>
            <a:ext cx="3762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Causes rejection due to non-fast-forward updates.</a:t>
            </a:r>
            <a:endParaRPr lang="en-US" sz="900" dirty="0"/>
          </a:p>
        </p:txBody>
      </p:sp>
      <p:sp>
        <p:nvSpPr>
          <p:cNvPr id="44" name="Shape 32"/>
          <p:cNvSpPr/>
          <p:nvPr/>
        </p:nvSpPr>
        <p:spPr>
          <a:xfrm>
            <a:off x="5810098" y="4151376"/>
            <a:ext cx="9144" cy="457200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3"/>
          <p:cNvSpPr/>
          <p:nvPr/>
        </p:nvSpPr>
        <p:spPr>
          <a:xfrm>
            <a:off x="6105449" y="4170578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39FF14">
              <a:alpha val="1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172200" y="4237330"/>
            <a:ext cx="133502" cy="13350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6524244" y="4151376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Pull First</a:t>
            </a:r>
            <a:endParaRPr lang="en-US" sz="1200" dirty="0"/>
          </a:p>
        </p:txBody>
      </p:sp>
      <p:sp>
        <p:nvSpPr>
          <p:cNvPr id="48" name="Text 35"/>
          <p:cNvSpPr txBox="1"/>
          <p:nvPr/>
        </p:nvSpPr>
        <p:spPr>
          <a:xfrm>
            <a:off x="6524244" y="4418381"/>
            <a:ext cx="3924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remote changes before sharing yours: </a:t>
            </a: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485546" y="5528462"/>
            <a:ext cx="11220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37"/>
          <p:cNvSpPr/>
          <p:nvPr/>
        </p:nvSpPr>
        <p:spPr>
          <a:xfrm>
            <a:off x="771754" y="4936846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rcRect l="-2512" r="-2512"/>
          <a:stretch/>
        </p:blipFill>
        <p:spPr>
          <a:xfrm>
            <a:off x="852221" y="5003597"/>
            <a:ext cx="105156" cy="133502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1190549" y="4918558"/>
            <a:ext cx="3096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</a:t>
            </a:r>
            <a:r>
              <a:rPr lang="en-US" sz="9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.gitignore</a:t>
            </a:r>
            <a:endParaRPr lang="en-US" sz="1200" dirty="0"/>
          </a:p>
        </p:txBody>
      </p:sp>
      <p:sp>
        <p:nvSpPr>
          <p:cNvPr id="53" name="Text 39"/>
          <p:cNvSpPr txBox="1"/>
          <p:nvPr/>
        </p:nvSpPr>
        <p:spPr>
          <a:xfrm>
            <a:off x="1190549" y="5184648"/>
            <a:ext cx="3096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Committing binaries, logs, and OS files.</a:t>
            </a:r>
            <a:endParaRPr lang="en-US" sz="900" dirty="0"/>
          </a:p>
        </p:txBody>
      </p:sp>
      <p:sp>
        <p:nvSpPr>
          <p:cNvPr id="54" name="Shape 40"/>
          <p:cNvSpPr/>
          <p:nvPr/>
        </p:nvSpPr>
        <p:spPr>
          <a:xfrm>
            <a:off x="5810098" y="4918558"/>
            <a:ext cx="9144" cy="457200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1"/>
          <p:cNvSpPr/>
          <p:nvPr/>
        </p:nvSpPr>
        <p:spPr>
          <a:xfrm>
            <a:off x="6105449" y="4936846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39FF14">
              <a:alpha val="1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172200" y="5003597"/>
            <a:ext cx="133502" cy="133502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6524244" y="4918558"/>
            <a:ext cx="3467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before first commit</a:t>
            </a:r>
            <a:endParaRPr lang="en-US" sz="1200" dirty="0"/>
          </a:p>
        </p:txBody>
      </p:sp>
      <p:sp>
        <p:nvSpPr>
          <p:cNvPr id="58" name="Text 43"/>
          <p:cNvSpPr txBox="1"/>
          <p:nvPr/>
        </p:nvSpPr>
        <p:spPr>
          <a:xfrm>
            <a:off x="6524244" y="5184648"/>
            <a:ext cx="3467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Ensure </a:t>
            </a: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</a:t>
            </a: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obj/</a:t>
            </a: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.DS_Store</a:t>
            </a: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 ignored.</a:t>
            </a:r>
            <a:endParaRPr lang="en-US" sz="900" dirty="0"/>
          </a:p>
        </p:txBody>
      </p:sp>
      <p:sp>
        <p:nvSpPr>
          <p:cNvPr id="59" name="Shape 44"/>
          <p:cNvSpPr/>
          <p:nvPr/>
        </p:nvSpPr>
        <p:spPr>
          <a:xfrm>
            <a:off x="771754" y="5704027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16"/>
          <a:srcRect t="-1100" b="-1100"/>
          <a:stretch/>
        </p:blipFill>
        <p:spPr>
          <a:xfrm>
            <a:off x="847649" y="5770778"/>
            <a:ext cx="114300" cy="133502"/>
          </a:xfrm>
          <a:prstGeom prst="rect">
            <a:avLst/>
          </a:prstGeom>
        </p:spPr>
      </p:pic>
      <p:sp>
        <p:nvSpPr>
          <p:cNvPr id="61" name="Text 45"/>
          <p:cNvSpPr txBox="1"/>
          <p:nvPr/>
        </p:nvSpPr>
        <p:spPr>
          <a:xfrm>
            <a:off x="1190549" y="5684825"/>
            <a:ext cx="3096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Fear of Branching</a:t>
            </a:r>
            <a:endParaRPr lang="en-US" sz="1200" dirty="0"/>
          </a:p>
        </p:txBody>
      </p:sp>
      <p:sp>
        <p:nvSpPr>
          <p:cNvPr id="62" name="Text 46"/>
          <p:cNvSpPr txBox="1"/>
          <p:nvPr/>
        </p:nvSpPr>
        <p:spPr>
          <a:xfrm>
            <a:off x="1190549" y="5951830"/>
            <a:ext cx="3096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on one massive branch for weeks.</a:t>
            </a:r>
            <a:endParaRPr lang="en-US" sz="900" dirty="0"/>
          </a:p>
        </p:txBody>
      </p:sp>
      <p:sp>
        <p:nvSpPr>
          <p:cNvPr id="63" name="Shape 47"/>
          <p:cNvSpPr/>
          <p:nvPr/>
        </p:nvSpPr>
        <p:spPr>
          <a:xfrm>
            <a:off x="5810098" y="5684825"/>
            <a:ext cx="9144" cy="457200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48"/>
          <p:cNvSpPr/>
          <p:nvPr/>
        </p:nvSpPr>
        <p:spPr>
          <a:xfrm>
            <a:off x="6105449" y="5704027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39FF14">
              <a:alpha val="1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5" name="Image 14" descr="preencoded.png"/>
          <p:cNvPicPr>
            <a:picLocks noChangeAspect="1"/>
          </p:cNvPicPr>
          <p:nvPr/>
        </p:nvPicPr>
        <p:blipFill>
          <a:blip r:embed="rId17"/>
          <a:srcRect l="-837" r="-837"/>
          <a:stretch/>
        </p:blipFill>
        <p:spPr>
          <a:xfrm>
            <a:off x="6163056" y="5770778"/>
            <a:ext cx="152705" cy="133502"/>
          </a:xfrm>
          <a:prstGeom prst="rect">
            <a:avLst/>
          </a:prstGeom>
        </p:spPr>
      </p:pic>
      <p:sp>
        <p:nvSpPr>
          <p:cNvPr id="66" name="Text 49"/>
          <p:cNvSpPr txBox="1"/>
          <p:nvPr/>
        </p:nvSpPr>
        <p:spPr>
          <a:xfrm>
            <a:off x="6524244" y="5684825"/>
            <a:ext cx="4058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Often</a:t>
            </a:r>
            <a:endParaRPr lang="en-US" sz="1200" dirty="0"/>
          </a:p>
        </p:txBody>
      </p:sp>
      <p:sp>
        <p:nvSpPr>
          <p:cNvPr id="67" name="Text 50"/>
          <p:cNvSpPr txBox="1"/>
          <p:nvPr/>
        </p:nvSpPr>
        <p:spPr>
          <a:xfrm>
            <a:off x="6524244" y="5951830"/>
            <a:ext cx="4058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 are cheap and fast. Use them for every task.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8382305" y="-1904695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4476902"/>
            <a:ext cx="3810305" cy="3810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35331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381305"/>
            <a:ext cx="24094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Tools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897026"/>
            <a:ext cx="262981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Your Git Interface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789920" y="381305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789920" y="381305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1500" y="1868119"/>
            <a:ext cx="3495751" cy="2095805"/>
          </a:xfrm>
          <a:prstGeom prst="roundRect">
            <a:avLst>
              <a:gd name="adj" fmla="val 634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393" b="-393"/>
          <a:stretch/>
        </p:blipFill>
        <p:spPr>
          <a:xfrm>
            <a:off x="580644" y="1877263"/>
            <a:ext cx="3473806" cy="384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012594" y="2105863"/>
            <a:ext cx="609905" cy="418795"/>
          </a:xfrm>
          <a:prstGeom prst="roundRect">
            <a:avLst>
              <a:gd name="adj" fmla="val 15879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5C2D91">
                <a:alpha val="3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2126894" y="2160727"/>
            <a:ext cx="381305" cy="3044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86484" y="2711196"/>
            <a:ext cx="146304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Studio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71754" y="3072384"/>
            <a:ext cx="30961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Git changes window, history view, and branch management right inside the IDE.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1571854" y="3472891"/>
            <a:ext cx="1495044" cy="256946"/>
          </a:xfrm>
          <a:prstGeom prst="roundRect">
            <a:avLst>
              <a:gd name="adj" fmla="val 105444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1541678" y="3472891"/>
            <a:ext cx="1555394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.NET Integration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4349801" y="1868119"/>
            <a:ext cx="3495751" cy="2095805"/>
          </a:xfrm>
          <a:prstGeom prst="roundRect">
            <a:avLst>
              <a:gd name="adj" fmla="val 634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t="-396" b="-396"/>
          <a:stretch/>
        </p:blipFill>
        <p:spPr>
          <a:xfrm>
            <a:off x="4358945" y="1877263"/>
            <a:ext cx="3473806" cy="384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790895" y="2105863"/>
            <a:ext cx="609905" cy="418795"/>
          </a:xfrm>
          <a:prstGeom prst="roundRect">
            <a:avLst>
              <a:gd name="adj" fmla="val 15879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007ACC">
                <a:alpha val="3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5982005" y="2160727"/>
            <a:ext cx="228600" cy="30449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656478" y="2711196"/>
            <a:ext cx="886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4550054" y="3072384"/>
            <a:ext cx="30961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source control tab. Supercharged by the </a:t>
            </a: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GitLens</a:t>
            </a: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extension for line-by-line blame.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5444338" y="3472891"/>
            <a:ext cx="1304849" cy="256946"/>
          </a:xfrm>
          <a:prstGeom prst="roundRect">
            <a:avLst>
              <a:gd name="adj" fmla="val 105444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 txBox="1"/>
          <p:nvPr/>
        </p:nvSpPr>
        <p:spPr>
          <a:xfrm>
            <a:off x="5415991" y="3472891"/>
            <a:ext cx="1362456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Lightweight &amp; Fast</a:t>
            </a:r>
            <a:endParaRPr lang="en-US" sz="800" dirty="0"/>
          </a:p>
        </p:txBody>
      </p:sp>
      <p:sp>
        <p:nvSpPr>
          <p:cNvPr id="27" name="Shape 19"/>
          <p:cNvSpPr/>
          <p:nvPr/>
        </p:nvSpPr>
        <p:spPr>
          <a:xfrm>
            <a:off x="8128102" y="1868119"/>
            <a:ext cx="3495751" cy="2095805"/>
          </a:xfrm>
          <a:prstGeom prst="roundRect">
            <a:avLst>
              <a:gd name="adj" fmla="val 634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 t="-393" b="-393"/>
          <a:stretch/>
        </p:blipFill>
        <p:spPr>
          <a:xfrm>
            <a:off x="8137246" y="1877263"/>
            <a:ext cx="3473806" cy="38405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9569196" y="2105863"/>
            <a:ext cx="609905" cy="323698"/>
          </a:xfrm>
          <a:prstGeom prst="roundRect">
            <a:avLst>
              <a:gd name="adj" fmla="val 26586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79287">
                <a:alpha val="3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 l="-50" r="-50"/>
          <a:stretch/>
        </p:blipFill>
        <p:spPr>
          <a:xfrm>
            <a:off x="9702698" y="2115007"/>
            <a:ext cx="342900" cy="30449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327794" y="2620670"/>
            <a:ext cx="11009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GitKraken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8328355" y="2981858"/>
            <a:ext cx="30961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Beautiful UI with best-in-class graph visualization. Drag-and-drop merging and rebase.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9347911" y="3582619"/>
            <a:ext cx="1057046" cy="256946"/>
          </a:xfrm>
          <a:prstGeom prst="roundRect">
            <a:avLst>
              <a:gd name="adj" fmla="val 105444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4"/>
          <p:cNvSpPr txBox="1"/>
          <p:nvPr/>
        </p:nvSpPr>
        <p:spPr>
          <a:xfrm>
            <a:off x="9319565" y="3582619"/>
            <a:ext cx="1114654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Graph Viz</a:t>
            </a:r>
            <a:endParaRPr lang="en-US" sz="800" dirty="0"/>
          </a:p>
        </p:txBody>
      </p:sp>
      <p:sp>
        <p:nvSpPr>
          <p:cNvPr id="35" name="Shape 25"/>
          <p:cNvSpPr/>
          <p:nvPr/>
        </p:nvSpPr>
        <p:spPr>
          <a:xfrm>
            <a:off x="2270455" y="4249217"/>
            <a:ext cx="3685946" cy="2095805"/>
          </a:xfrm>
          <a:prstGeom prst="roundRect">
            <a:avLst>
              <a:gd name="adj" fmla="val 634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rcRect t="-394" b="-394"/>
          <a:stretch/>
        </p:blipFill>
        <p:spPr>
          <a:xfrm>
            <a:off x="2279599" y="4258361"/>
            <a:ext cx="3664001" cy="38405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3806647" y="4486961"/>
            <a:ext cx="609905" cy="418795"/>
          </a:xfrm>
          <a:prstGeom prst="roundRect">
            <a:avLst>
              <a:gd name="adj" fmla="val 15879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0052CC">
                <a:alpha val="3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959352" y="4541825"/>
            <a:ext cx="304495" cy="304495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3501238" y="5092294"/>
            <a:ext cx="122255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Sourcetree</a:t>
            </a:r>
            <a:endParaRPr lang="en-US" sz="1500" dirty="0"/>
          </a:p>
        </p:txBody>
      </p:sp>
      <p:sp>
        <p:nvSpPr>
          <p:cNvPr id="40" name="Text 28"/>
          <p:cNvSpPr txBox="1"/>
          <p:nvPr/>
        </p:nvSpPr>
        <p:spPr>
          <a:xfrm>
            <a:off x="2470709" y="5454396"/>
            <a:ext cx="32863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free, powerful desktop client by Atlassian. Excellent visual representation of branches.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3523183" y="5853989"/>
            <a:ext cx="1181405" cy="256946"/>
          </a:xfrm>
          <a:prstGeom prst="roundRect">
            <a:avLst>
              <a:gd name="adj" fmla="val 105444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0"/>
          <p:cNvSpPr txBox="1"/>
          <p:nvPr/>
        </p:nvSpPr>
        <p:spPr>
          <a:xfrm>
            <a:off x="3494837" y="5853989"/>
            <a:ext cx="123901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Desktop GUI</a:t>
            </a:r>
            <a:endParaRPr lang="en-US" sz="800" dirty="0"/>
          </a:p>
        </p:txBody>
      </p:sp>
      <p:sp>
        <p:nvSpPr>
          <p:cNvPr id="43" name="Shape 31"/>
          <p:cNvSpPr/>
          <p:nvPr/>
        </p:nvSpPr>
        <p:spPr>
          <a:xfrm>
            <a:off x="6238951" y="4249217"/>
            <a:ext cx="3685946" cy="2095805"/>
          </a:xfrm>
          <a:prstGeom prst="roundRect">
            <a:avLst>
              <a:gd name="adj" fmla="val 634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3"/>
          <a:srcRect t="-394" b="-394"/>
          <a:stretch/>
        </p:blipFill>
        <p:spPr>
          <a:xfrm>
            <a:off x="6248095" y="4258361"/>
            <a:ext cx="3664001" cy="38405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7775143" y="4486961"/>
            <a:ext cx="609905" cy="418795"/>
          </a:xfrm>
          <a:prstGeom prst="roundRect">
            <a:avLst>
              <a:gd name="adj" fmla="val 15879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0F6FC">
                <a:alpha val="3000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4"/>
          <a:srcRect l="-63" r="-63"/>
          <a:stretch/>
        </p:blipFill>
        <p:spPr>
          <a:xfrm>
            <a:off x="7932420" y="4541825"/>
            <a:ext cx="295351" cy="304495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7225589" y="5092294"/>
            <a:ext cx="171267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Desktop</a:t>
            </a:r>
            <a:endParaRPr lang="en-US" sz="1500" dirty="0"/>
          </a:p>
        </p:txBody>
      </p:sp>
      <p:sp>
        <p:nvSpPr>
          <p:cNvPr id="48" name="Text 34"/>
          <p:cNvSpPr txBox="1"/>
          <p:nvPr/>
        </p:nvSpPr>
        <p:spPr>
          <a:xfrm>
            <a:off x="6439205" y="5454396"/>
            <a:ext cx="32863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Focuses on the most common workflow. Seamless integration with GitHub PRs and Issues.</a:t>
            </a:r>
            <a:endParaRPr lang="en-US" sz="1000" dirty="0"/>
          </a:p>
        </p:txBody>
      </p:sp>
      <p:sp>
        <p:nvSpPr>
          <p:cNvPr id="49" name="Shape 35"/>
          <p:cNvSpPr/>
          <p:nvPr/>
        </p:nvSpPr>
        <p:spPr>
          <a:xfrm>
            <a:off x="7459675" y="5853989"/>
            <a:ext cx="1248156" cy="256946"/>
          </a:xfrm>
          <a:prstGeom prst="roundRect">
            <a:avLst>
              <a:gd name="adj" fmla="val 105444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36"/>
          <p:cNvSpPr txBox="1"/>
          <p:nvPr/>
        </p:nvSpPr>
        <p:spPr>
          <a:xfrm>
            <a:off x="7431329" y="5853989"/>
            <a:ext cx="1305763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Beginner Friendly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8382305" y="-1429207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4000500"/>
            <a:ext cx="3810305" cy="3810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1105510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76402" y="267005"/>
            <a:ext cx="624992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TFS to Git: Quick Reference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722376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8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You Need on One Page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0789920" y="267005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789920" y="267005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20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476402" y="1378001"/>
            <a:ext cx="11239805" cy="389077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5546" y="1387145"/>
            <a:ext cx="11220602" cy="476402"/>
          </a:xfrm>
          <a:prstGeom prst="roundRect">
            <a:avLst>
              <a:gd name="adj" fmla="val 92131"/>
            </a:avLst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485546" y="1844345"/>
            <a:ext cx="11220602" cy="19202"/>
          </a:xfrm>
          <a:prstGeom prst="roundRect">
            <a:avLst>
              <a:gd name="adj" fmla="val 2285762"/>
            </a:avLst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960120" y="1501445"/>
            <a:ext cx="10981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TFS Action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284671" y="1501445"/>
            <a:ext cx="1335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 Command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5546" y="2350008"/>
            <a:ext cx="11220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1000354" y="199887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Connect / Map Workspace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096305" y="1968703"/>
            <a:ext cx="5401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5546" y="2845613"/>
            <a:ext cx="11220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1000354" y="2494483"/>
            <a:ext cx="13743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Get Latest Version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096305" y="2463394"/>
            <a:ext cx="5401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85546" y="3282696"/>
            <a:ext cx="11220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1000354" y="2958998"/>
            <a:ext cx="12097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Checkout (Lock)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096305" y="2966314"/>
            <a:ext cx="54388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command (Optimistic editing)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85546" y="3773729"/>
            <a:ext cx="11220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1000354" y="3423514"/>
            <a:ext cx="11814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Check-in (Save)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182258" y="3392424"/>
            <a:ext cx="5315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commitgit push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85546" y="4269334"/>
            <a:ext cx="11220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1000354" y="3918204"/>
            <a:ext cx="13149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Shelve / Unshelve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6096305" y="3887114"/>
            <a:ext cx="5401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apply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85546" y="4764938"/>
            <a:ext cx="11220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1000354" y="4413809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Rollback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6096305" y="4382719"/>
            <a:ext cx="5401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0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000354" y="4909414"/>
            <a:ext cx="1571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Request Code Review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6096305" y="4878324"/>
            <a:ext cx="5401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79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 (PR)</a:t>
            </a:r>
            <a:endParaRPr lang="en-US" sz="10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 l="-3379" r="-3379"/>
          <a:stretch/>
        </p:blipFill>
        <p:spPr>
          <a:xfrm>
            <a:off x="771754" y="1539850"/>
            <a:ext cx="142646" cy="152705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 l="-3379" r="-3379"/>
          <a:stretch/>
        </p:blipFill>
        <p:spPr>
          <a:xfrm>
            <a:off x="6096305" y="1539850"/>
            <a:ext cx="142646" cy="152705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l="-6986" r="-6986"/>
          <a:stretch/>
        </p:blipFill>
        <p:spPr>
          <a:xfrm>
            <a:off x="771754" y="2034540"/>
            <a:ext cx="190195" cy="133502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l="-21233" r="-21233"/>
          <a:stretch/>
        </p:blipFill>
        <p:spPr>
          <a:xfrm>
            <a:off x="771754" y="2530145"/>
            <a:ext cx="190195" cy="133502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l="-31409" r="-31409"/>
          <a:stretch/>
        </p:blipFill>
        <p:spPr>
          <a:xfrm>
            <a:off x="771754" y="2994660"/>
            <a:ext cx="190195" cy="133502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rcRect l="-21233" r="-21233"/>
          <a:stretch/>
        </p:blipFill>
        <p:spPr>
          <a:xfrm>
            <a:off x="771754" y="3459175"/>
            <a:ext cx="190195" cy="133502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7144207" y="3482950"/>
            <a:ext cx="105156" cy="114300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3"/>
          <a:srcRect l="-21233" r="-21233"/>
          <a:stretch/>
        </p:blipFill>
        <p:spPr>
          <a:xfrm>
            <a:off x="771754" y="3953866"/>
            <a:ext cx="190195" cy="133502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4"/>
          <a:srcRect l="-21233" r="-21233"/>
          <a:stretch/>
        </p:blipFill>
        <p:spPr>
          <a:xfrm>
            <a:off x="771754" y="4449470"/>
            <a:ext cx="190195" cy="133502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5"/>
          <a:srcRect l="-6986" r="-6986"/>
          <a:stretch/>
        </p:blipFill>
        <p:spPr>
          <a:xfrm>
            <a:off x="771754" y="4945075"/>
            <a:ext cx="190195" cy="133502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6"/>
          <a:srcRect t="-20" b="-20"/>
          <a:stretch/>
        </p:blipFill>
        <p:spPr>
          <a:xfrm>
            <a:off x="476402" y="5458968"/>
            <a:ext cx="11239805" cy="1086307"/>
          </a:xfrm>
          <a:prstGeom prst="rect">
            <a:avLst/>
          </a:prstGeom>
        </p:spPr>
      </p:pic>
      <p:sp>
        <p:nvSpPr>
          <p:cNvPr id="47" name="Shape 31"/>
          <p:cNvSpPr/>
          <p:nvPr/>
        </p:nvSpPr>
        <p:spPr>
          <a:xfrm>
            <a:off x="761695" y="5630875"/>
            <a:ext cx="476402" cy="476402"/>
          </a:xfrm>
          <a:prstGeom prst="ellipse">
            <a:avLst/>
          </a:prstGeom>
          <a:solidFill>
            <a:srgbClr val="00B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7"/>
          <a:srcRect l="-133" r="-133"/>
          <a:stretch/>
        </p:blipFill>
        <p:spPr>
          <a:xfrm>
            <a:off x="914400" y="5754319"/>
            <a:ext cx="171907" cy="228600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1429207" y="5630875"/>
            <a:ext cx="101727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Local-First Mindset</a:t>
            </a:r>
            <a:endParaRPr lang="en-US" sz="1300" dirty="0"/>
          </a:p>
        </p:txBody>
      </p:sp>
      <p:sp>
        <p:nvSpPr>
          <p:cNvPr id="50" name="Text 33"/>
          <p:cNvSpPr txBox="1"/>
          <p:nvPr/>
        </p:nvSpPr>
        <p:spPr>
          <a:xfrm>
            <a:off x="1429207" y="5944514"/>
            <a:ext cx="101352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 shifts responsibility to your </a:t>
            </a: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machine</a:t>
            </a:r>
            <a:r>
              <a:rPr lang="en-US" sz="1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Unlike TFS, you don't need the server to save your work-in-progress, view full project history, or switch contexts between branches. The server is just for sharing, not for working. 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1429207" y="3524098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/>
          <a:stretch/>
        </p:blipFill>
        <p:spPr>
          <a:xfrm>
            <a:off x="4667098" y="1314907"/>
            <a:ext cx="2857500" cy="28575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0" y="1257300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 txBox="1"/>
          <p:nvPr/>
        </p:nvSpPr>
        <p:spPr>
          <a:xfrm>
            <a:off x="476402" y="286207"/>
            <a:ext cx="713597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Started — Next Steps</a:t>
            </a:r>
            <a:endParaRPr lang="en-US" sz="3100" dirty="0"/>
          </a:p>
        </p:txBody>
      </p:sp>
      <p:sp>
        <p:nvSpPr>
          <p:cNvPr id="9" name="Text 4"/>
          <p:cNvSpPr txBox="1"/>
          <p:nvPr/>
        </p:nvSpPr>
        <p:spPr>
          <a:xfrm>
            <a:off x="476402" y="801929"/>
            <a:ext cx="5877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Git Journey Starts Now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10789920" y="286207"/>
            <a:ext cx="933602" cy="362102"/>
          </a:xfrm>
          <a:prstGeom prst="roundRect">
            <a:avLst>
              <a:gd name="adj" fmla="val 797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10789920" y="286207"/>
            <a:ext cx="9912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20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76402" y="1487729"/>
            <a:ext cx="28346" cy="200254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 txBox="1"/>
          <p:nvPr/>
        </p:nvSpPr>
        <p:spPr>
          <a:xfrm>
            <a:off x="926287" y="1487729"/>
            <a:ext cx="517001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0B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Initial Setup 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76402" y="1888236"/>
            <a:ext cx="5505602" cy="1009498"/>
          </a:xfrm>
          <a:prstGeom prst="roundRect">
            <a:avLst>
              <a:gd name="adj" fmla="val 2050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76656" y="2030882"/>
            <a:ext cx="267005" cy="267005"/>
          </a:xfrm>
          <a:prstGeom prst="ellipse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00B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38251" y="2030882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057046" y="203088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Installation</a:t>
            </a:r>
            <a:endParaRPr lang="en-US" sz="13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629046" y="2087575"/>
            <a:ext cx="152705" cy="15270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76402" y="3044952"/>
            <a:ext cx="5505602" cy="1457554"/>
          </a:xfrm>
          <a:prstGeom prst="roundRect">
            <a:avLst>
              <a:gd name="adj" fmla="val 9841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76656" y="3187598"/>
            <a:ext cx="267005" cy="267005"/>
          </a:xfrm>
          <a:prstGeom prst="ellipse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00B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638251" y="3187598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057046" y="3187598"/>
            <a:ext cx="45345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Identity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5591556" y="3245206"/>
            <a:ext cx="190195" cy="15270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210605" y="1487729"/>
            <a:ext cx="28346" cy="20025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 txBox="1"/>
          <p:nvPr/>
        </p:nvSpPr>
        <p:spPr>
          <a:xfrm>
            <a:off x="6660490" y="1487729"/>
            <a:ext cx="517001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Daily Workflow 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210605" y="1888236"/>
            <a:ext cx="5505602" cy="1009498"/>
          </a:xfrm>
          <a:prstGeom prst="roundRect">
            <a:avLst>
              <a:gd name="adj" fmla="val 2050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6409944" y="2030882"/>
            <a:ext cx="267005" cy="267005"/>
          </a:xfrm>
          <a:prstGeom prst="ellipse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00B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6372454" y="2030882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6791249" y="2030882"/>
            <a:ext cx="45345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Repository</a:t>
            </a:r>
            <a:endParaRPr lang="en-US" sz="13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11324844" y="2087575"/>
            <a:ext cx="190195" cy="152705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210605" y="3044952"/>
            <a:ext cx="5505602" cy="1009498"/>
          </a:xfrm>
          <a:prstGeom prst="roundRect">
            <a:avLst>
              <a:gd name="adj" fmla="val 2050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6409944" y="3187598"/>
            <a:ext cx="267005" cy="267005"/>
          </a:xfrm>
          <a:prstGeom prst="ellipse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00B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6372454" y="3187598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6791249" y="3187598"/>
            <a:ext cx="45912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Feature Branch</a:t>
            </a:r>
            <a:endParaRPr lang="en-US" sz="13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11382451" y="3245206"/>
            <a:ext cx="133502" cy="15270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210605" y="4202582"/>
            <a:ext cx="5505602" cy="1410005"/>
          </a:xfrm>
          <a:prstGeom prst="roundRect">
            <a:avLst>
              <a:gd name="adj" fmla="val 10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8"/>
          <p:cNvSpPr/>
          <p:nvPr/>
        </p:nvSpPr>
        <p:spPr>
          <a:xfrm>
            <a:off x="6409944" y="4345229"/>
            <a:ext cx="267005" cy="267005"/>
          </a:xfrm>
          <a:prstGeom prst="ellipse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00B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/>
          <p:nvPr/>
        </p:nvSpPr>
        <p:spPr>
          <a:xfrm>
            <a:off x="6372454" y="4345229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6791249" y="4345229"/>
            <a:ext cx="45912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Changes</a:t>
            </a:r>
            <a:endParaRPr lang="en-US" sz="13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11382451" y="4402836"/>
            <a:ext cx="133502" cy="152705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rcRect l="-7192" r="-7192"/>
          <a:stretch/>
        </p:blipFill>
        <p:spPr>
          <a:xfrm>
            <a:off x="599846" y="1523390"/>
            <a:ext cx="152705" cy="133502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rcRect l="-7192" r="-7192"/>
          <a:stretch/>
        </p:blipFill>
        <p:spPr>
          <a:xfrm>
            <a:off x="6334049" y="1523390"/>
            <a:ext cx="152705" cy="133502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676656" y="2392985"/>
            <a:ext cx="5105095" cy="362102"/>
          </a:xfrm>
          <a:prstGeom prst="roundRect">
            <a:avLst>
              <a:gd name="adj" fmla="val 797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2"/>
          <p:cNvSpPr txBox="1"/>
          <p:nvPr/>
        </p:nvSpPr>
        <p:spPr>
          <a:xfrm>
            <a:off x="970178" y="2478024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1192378" y="2478024"/>
            <a:ext cx="7525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--version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676656" y="3549701"/>
            <a:ext cx="5105095" cy="362102"/>
          </a:xfrm>
          <a:prstGeom prst="roundRect">
            <a:avLst>
              <a:gd name="adj" fmla="val 797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5"/>
          <p:cNvSpPr txBox="1"/>
          <p:nvPr/>
        </p:nvSpPr>
        <p:spPr>
          <a:xfrm>
            <a:off x="970178" y="3635654"/>
            <a:ext cx="8293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</a:t>
            </a:r>
            <a:endParaRPr lang="en-US" sz="900" dirty="0"/>
          </a:p>
        </p:txBody>
      </p:sp>
      <p:sp>
        <p:nvSpPr>
          <p:cNvPr id="48" name="Text 36"/>
          <p:cNvSpPr txBox="1"/>
          <p:nvPr/>
        </p:nvSpPr>
        <p:spPr>
          <a:xfrm>
            <a:off x="1712671" y="3635654"/>
            <a:ext cx="6766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endParaRPr lang="en-US" sz="900" dirty="0"/>
          </a:p>
        </p:txBody>
      </p:sp>
      <p:sp>
        <p:nvSpPr>
          <p:cNvPr id="49" name="Text 37"/>
          <p:cNvSpPr txBox="1"/>
          <p:nvPr/>
        </p:nvSpPr>
        <p:spPr>
          <a:xfrm>
            <a:off x="2307031" y="3635654"/>
            <a:ext cx="7525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2976372" y="3635654"/>
            <a:ext cx="8961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 Name"</a:t>
            </a:r>
            <a:endParaRPr lang="en-US" sz="900" dirty="0"/>
          </a:p>
        </p:txBody>
      </p:sp>
      <p:sp>
        <p:nvSpPr>
          <p:cNvPr id="51" name="Shape 39"/>
          <p:cNvSpPr/>
          <p:nvPr/>
        </p:nvSpPr>
        <p:spPr>
          <a:xfrm>
            <a:off x="676656" y="4002329"/>
            <a:ext cx="5105095" cy="362102"/>
          </a:xfrm>
          <a:prstGeom prst="roundRect">
            <a:avLst>
              <a:gd name="adj" fmla="val 797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0"/>
          <p:cNvSpPr txBox="1"/>
          <p:nvPr/>
        </p:nvSpPr>
        <p:spPr>
          <a:xfrm>
            <a:off x="970178" y="4088282"/>
            <a:ext cx="8293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1712671" y="4088282"/>
            <a:ext cx="6766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endParaRPr lang="en-US" sz="900" dirty="0"/>
          </a:p>
        </p:txBody>
      </p:sp>
      <p:sp>
        <p:nvSpPr>
          <p:cNvPr id="54" name="Text 42"/>
          <p:cNvSpPr txBox="1"/>
          <p:nvPr/>
        </p:nvSpPr>
        <p:spPr>
          <a:xfrm>
            <a:off x="2307031" y="4088282"/>
            <a:ext cx="8293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user.email</a:t>
            </a:r>
            <a:endParaRPr lang="en-US" sz="900" dirty="0"/>
          </a:p>
        </p:txBody>
      </p:sp>
      <p:sp>
        <p:nvSpPr>
          <p:cNvPr id="55" name="Text 43"/>
          <p:cNvSpPr txBox="1"/>
          <p:nvPr/>
        </p:nvSpPr>
        <p:spPr>
          <a:xfrm>
            <a:off x="3050438" y="4088282"/>
            <a:ext cx="13432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"you@company.com"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6409944" y="2392985"/>
            <a:ext cx="5105095" cy="362102"/>
          </a:xfrm>
          <a:prstGeom prst="roundRect">
            <a:avLst>
              <a:gd name="adj" fmla="val 797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5"/>
          <p:cNvSpPr txBox="1"/>
          <p:nvPr/>
        </p:nvSpPr>
        <p:spPr>
          <a:xfrm>
            <a:off x="6703466" y="2478024"/>
            <a:ext cx="7525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900" dirty="0"/>
          </a:p>
        </p:txBody>
      </p:sp>
      <p:sp>
        <p:nvSpPr>
          <p:cNvPr id="58" name="Text 46"/>
          <p:cNvSpPr txBox="1"/>
          <p:nvPr/>
        </p:nvSpPr>
        <p:spPr>
          <a:xfrm>
            <a:off x="7372807" y="2478024"/>
            <a:ext cx="1267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&lt;repository-url&gt;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6409944" y="3549701"/>
            <a:ext cx="5105095" cy="362102"/>
          </a:xfrm>
          <a:prstGeom prst="roundRect">
            <a:avLst>
              <a:gd name="adj" fmla="val 797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48"/>
          <p:cNvSpPr txBox="1"/>
          <p:nvPr/>
        </p:nvSpPr>
        <p:spPr>
          <a:xfrm>
            <a:off x="6703466" y="3635654"/>
            <a:ext cx="9720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</a:t>
            </a:r>
            <a:endParaRPr lang="en-US" sz="900" dirty="0"/>
          </a:p>
        </p:txBody>
      </p:sp>
      <p:sp>
        <p:nvSpPr>
          <p:cNvPr id="61" name="Text 49"/>
          <p:cNvSpPr txBox="1"/>
          <p:nvPr/>
        </p:nvSpPr>
        <p:spPr>
          <a:xfrm>
            <a:off x="7595921" y="3635654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endParaRPr lang="en-US" sz="900" dirty="0"/>
          </a:p>
        </p:txBody>
      </p:sp>
      <p:sp>
        <p:nvSpPr>
          <p:cNvPr id="62" name="Text 50"/>
          <p:cNvSpPr txBox="1"/>
          <p:nvPr/>
        </p:nvSpPr>
        <p:spPr>
          <a:xfrm>
            <a:off x="7744054" y="3635654"/>
            <a:ext cx="19431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feature/your-feature-name</a:t>
            </a:r>
            <a:endParaRPr lang="en-US" sz="900" dirty="0"/>
          </a:p>
        </p:txBody>
      </p:sp>
      <p:sp>
        <p:nvSpPr>
          <p:cNvPr id="63" name="Shape 51"/>
          <p:cNvSpPr/>
          <p:nvPr/>
        </p:nvSpPr>
        <p:spPr>
          <a:xfrm>
            <a:off x="6409944" y="4707331"/>
            <a:ext cx="5105095" cy="362102"/>
          </a:xfrm>
          <a:prstGeom prst="roundRect">
            <a:avLst>
              <a:gd name="adj" fmla="val 797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2"/>
          <p:cNvSpPr txBox="1"/>
          <p:nvPr/>
        </p:nvSpPr>
        <p:spPr>
          <a:xfrm>
            <a:off x="6703466" y="4793285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900" dirty="0"/>
          </a:p>
        </p:txBody>
      </p:sp>
      <p:sp>
        <p:nvSpPr>
          <p:cNvPr id="65" name="Text 53"/>
          <p:cNvSpPr txBox="1"/>
          <p:nvPr/>
        </p:nvSpPr>
        <p:spPr>
          <a:xfrm>
            <a:off x="7223760" y="4793285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6409944" y="5112410"/>
            <a:ext cx="5105095" cy="362102"/>
          </a:xfrm>
          <a:prstGeom prst="roundRect">
            <a:avLst>
              <a:gd name="adj" fmla="val 797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5"/>
          <p:cNvSpPr txBox="1"/>
          <p:nvPr/>
        </p:nvSpPr>
        <p:spPr>
          <a:xfrm>
            <a:off x="6703466" y="5197450"/>
            <a:ext cx="8293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900" dirty="0"/>
          </a:p>
        </p:txBody>
      </p:sp>
      <p:sp>
        <p:nvSpPr>
          <p:cNvPr id="68" name="Text 56"/>
          <p:cNvSpPr txBox="1"/>
          <p:nvPr/>
        </p:nvSpPr>
        <p:spPr>
          <a:xfrm>
            <a:off x="7446874" y="5197450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endParaRPr lang="en-US" sz="900" dirty="0"/>
          </a:p>
        </p:txBody>
      </p:sp>
      <p:sp>
        <p:nvSpPr>
          <p:cNvPr id="69" name="Text 57"/>
          <p:cNvSpPr txBox="1"/>
          <p:nvPr/>
        </p:nvSpPr>
        <p:spPr>
          <a:xfrm>
            <a:off x="7595921" y="5197450"/>
            <a:ext cx="21698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"feat: added new login page"</a:t>
            </a:r>
            <a:endParaRPr lang="en-US" sz="900" dirty="0"/>
          </a:p>
        </p:txBody>
      </p:sp>
      <p:sp>
        <p:nvSpPr>
          <p:cNvPr id="70" name="Shape 58"/>
          <p:cNvSpPr/>
          <p:nvPr/>
        </p:nvSpPr>
        <p:spPr>
          <a:xfrm>
            <a:off x="476402" y="5896051"/>
            <a:ext cx="11239805" cy="733349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59"/>
          <p:cNvSpPr/>
          <p:nvPr/>
        </p:nvSpPr>
        <p:spPr>
          <a:xfrm>
            <a:off x="476402" y="5896051"/>
            <a:ext cx="1123980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2" name="Image 10" descr="preencoded.png"/>
          <p:cNvPicPr>
            <a:picLocks noChangeAspect="1"/>
          </p:cNvPicPr>
          <p:nvPr/>
        </p:nvPicPr>
        <p:blipFill>
          <a:blip r:embed="rId13"/>
          <a:srcRect l="-9" r="-9"/>
          <a:stretch/>
        </p:blipFill>
        <p:spPr>
          <a:xfrm>
            <a:off x="5762549" y="5886907"/>
            <a:ext cx="666598" cy="761695"/>
          </a:xfrm>
          <a:prstGeom prst="rect">
            <a:avLst/>
          </a:prstGeom>
        </p:spPr>
      </p:pic>
      <p:sp>
        <p:nvSpPr>
          <p:cNvPr id="73" name="Text 60"/>
          <p:cNvSpPr txBox="1"/>
          <p:nvPr/>
        </p:nvSpPr>
        <p:spPr>
          <a:xfrm>
            <a:off x="609905" y="6096305"/>
            <a:ext cx="1097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r>
              <a:rPr lang="en-US" sz="1800" b="1" kern="0" spc="75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it once</a:t>
            </a:r>
            <a:r>
              <a:rPr lang="en-US" sz="1800" kern="0" spc="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use it everywhere."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2114</Words>
  <Application>Microsoft Office PowerPoint</Application>
  <PresentationFormat>Widescreen</PresentationFormat>
  <Paragraphs>499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Courier New</vt:lpstr>
      <vt:lpstr>Inter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Prakas Reddy</cp:lastModifiedBy>
  <cp:revision>3</cp:revision>
  <dcterms:created xsi:type="dcterms:W3CDTF">2026-03-17T02:07:06Z</dcterms:created>
  <dcterms:modified xsi:type="dcterms:W3CDTF">2026-03-30T13:03:38Z</dcterms:modified>
</cp:coreProperties>
</file>